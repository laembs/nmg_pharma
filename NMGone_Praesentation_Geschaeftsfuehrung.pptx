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60120"/>
            <a:ext cx="365760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MG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39516"/>
            <a:ext cx="2432304" cy="140716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937760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21808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05856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89904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73952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E8F1FB"/>
                </a:solidFill>
                <a:latin typeface="Trebuchet MS"/>
              </a:rPr>
              <a:t>Die digitale Plattform für Marktanalyse,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E8F1FB"/>
                </a:solidFill>
                <a:latin typeface="Trebuchet MS"/>
              </a:rPr>
              <a:t>Rabattmanagement und Warenwirtschaft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892040"/>
            <a:ext cx="2926080" cy="41148"/>
          </a:xfrm>
          <a:prstGeom prst="rect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9CDE8"/>
                </a:solidFill>
                <a:latin typeface="Calibri"/>
              </a:rPr>
              <a:t>Eigenentwicklung  ·  Stand V2.0  ·  Juni 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6D6"/>
                </a:solidFill>
                <a:latin typeface="Calibri"/>
              </a:rPr>
              <a:t>Präsentation für die Geschäftsführung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2633"/>
                </a:solidFill>
                <a:latin typeface="Calibri"/>
              </a:rPr>
              <a:t>NMGone bündelt alle wiederkehrenden Aufgaben rund um Apotheken-Marktanalyse, Rabatte, Kundendaten und Verkauf in </a:t>
            </a:r>
            <a:r>
              <a:rPr sz="1700" b="1" i="0">
                <a:solidFill>
                  <a:srgbClr val="0B4A86"/>
                </a:solidFill>
                <a:latin typeface="Calibri"/>
              </a:rPr>
              <a:t>einem einzigen, selbst entwickelten Programm</a:t>
            </a:r>
            <a:r>
              <a:rPr sz="1700" b="0" i="0">
                <a:solidFill>
                  <a:srgbClr val="1B2633"/>
                </a:solidFill>
                <a:latin typeface="Calibri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0B4A86"/>
                </a:solidFill>
                <a:latin typeface="Trebuchet MS"/>
              </a:rPr>
              <a:t>14+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Module unter einer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Oberfläche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29584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11823B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3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Installation, eine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gemeinsame Datenbasis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36208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8B5A00"/>
                </a:solidFill>
                <a:latin typeface="Trebuchet MS"/>
              </a:rPr>
              <a:t>V2.0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Aktueller Stand 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Kasse inklusive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2832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942832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79992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6B4FB3"/>
                </a:solidFill>
                <a:latin typeface="Trebuchet MS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1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Eigenentwicklung 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auf uns zugeschnitten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4A86"/>
                </a:solidFill>
                <a:latin typeface="Calibri"/>
              </a:rPr>
              <a:t>Kernnutzen:  </a:t>
            </a:r>
            <a:r>
              <a:rPr sz="1500" b="0" i="0">
                <a:solidFill>
                  <a:srgbClr val="1B2633"/>
                </a:solidFill>
                <a:latin typeface="Calibri"/>
              </a:rPr>
              <a:t>maßgeschneidert auf unsere Prozesse, vollständig protokolliert (wer / was / wann), Daten bleiben im Haus.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Warum NMGone?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5A6473"/>
                </a:solidFill>
                <a:latin typeface="Calibri"/>
              </a:rPr>
              <a:t>Die Ausgangslage – verteilte Werkzeuge, manueller Aufwand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Verteilte Excel-Dateien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Auswertungen, Rabatte und Kundenlisten lagen in vielen einzelnen Dateien – schwer aktuell zu halten.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1868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32186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72968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Manuelle Auswertung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Marktanalysen wurden von Hand zusammengestellt – zeitaufwendig und fehleranfällig.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4281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428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97096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Keine Nachvollziehbarkeit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Änderungen ließen sich kaum zurückverfolgen – wer hat wann was geändert?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66944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221224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Kein durchgängiger Verkaufsweg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Wareneingang, Lager und Verkauf waren nicht verbunden.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194560"/>
            <a:ext cx="4434840" cy="4114800"/>
          </a:xfrm>
          <a:prstGeom prst="roundRect">
            <a:avLst>
              <a:gd name="adj" fmla="val 4000"/>
            </a:avLst>
          </a:prstGeom>
          <a:solidFill>
            <a:srgbClr val="0B4A86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80" y="2560320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Die Antwort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200400"/>
            <a:ext cx="3703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8F1FB"/>
                </a:solidFill>
                <a:latin typeface="Calibri"/>
              </a:rPr>
              <a:t>Ein Programm statt vieler Insellösungen.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500" b="1" i="0">
              <a:solidFill>
                <a:srgbClr val="E8F1FB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Eine gemeinsame Datenbasis für alle Module.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450" b="0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Jede Änderung wird automatisch protokolliert.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450" b="0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Von der Marktanalyse bis zum fertigen Verkauf – durchgängig.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Eine Plattform – viele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Alle Werkzeuge erreichbar über ein gemeinsames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69264" y="1929384"/>
            <a:ext cx="128016" cy="73152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07008" y="1911095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Bedarfsanalyse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31343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PK-/ZW-Marktanalysen starten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5738" y="1783080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92042" y="1929384"/>
            <a:ext cx="128016" cy="73152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29786" y="1911095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Produktanalyse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786" y="231343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Produktchancen erkennen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8516" y="1783080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14820" y="1929384"/>
            <a:ext cx="128016" cy="731520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52564" y="1911095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NMG-Rabatte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564" y="231343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Rabatte, Statistik, Verlauf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1295" y="1783080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37599" y="1929384"/>
            <a:ext cx="128016" cy="73152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75343" y="1911095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PK-Konditionen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5343" y="231343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Kundenindividuelle Rabatte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2953512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69264" y="3099816"/>
            <a:ext cx="128016" cy="731520"/>
          </a:xfrm>
          <a:prstGeom prst="rect">
            <a:avLst/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07008" y="30815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Kasse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483864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Verkauf + Wareneingang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45738" y="2953512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92042" y="3099816"/>
            <a:ext cx="128016" cy="73152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29786" y="30815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Kunden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9786" y="3483864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Kundenstamm &amp; Historie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8516" y="2953512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14820" y="3099816"/>
            <a:ext cx="128016" cy="731520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52564" y="30815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Mitarbeiter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2564" y="3483864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Zuständigkeiten &amp; Profile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1295" y="2953512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37599" y="3099816"/>
            <a:ext cx="128016" cy="73152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75343" y="30815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Schulbank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5343" y="3483864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Lernvorschläge pflegen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123944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69264" y="4270248"/>
            <a:ext cx="128016" cy="731520"/>
          </a:xfrm>
          <a:prstGeom prst="rect">
            <a:avLst/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07008" y="4251959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008" y="4654296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Kunden-Ampel &amp; Übersicht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45738" y="4123944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692042" y="4270248"/>
            <a:ext cx="128016" cy="731520"/>
          </a:xfrm>
          <a:prstGeom prst="rect">
            <a:avLst/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929786" y="4251959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Vergleichs-Suche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29786" y="4654296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PZN/Artikel schnell finden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8516" y="4123944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14820" y="4270248"/>
            <a:ext cx="128016" cy="73152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52564" y="4251959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Globale Suche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52564" y="4654296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Kunde, Analyse, Artikel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1295" y="4123944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137599" y="4270248"/>
            <a:ext cx="128016" cy="731520"/>
          </a:xfrm>
          <a:prstGeom prst="rect">
            <a:avLst/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75343" y="4251959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Abweichungsanalyse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5343" y="4654296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Manuell vs. Programm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" y="5294376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69264" y="5440680"/>
            <a:ext cx="128016" cy="73152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07008" y="542239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Ges. Analysen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7008" y="58247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Vorhandene Analysen öffnen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45738" y="5294376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692042" y="5440680"/>
            <a:ext cx="128016" cy="731520"/>
          </a:xfrm>
          <a:prstGeom prst="rect">
            <a:avLst/>
          </a:prstGeom>
          <a:solidFill>
            <a:srgbClr val="5A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929786" y="542239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Daten aktualisieren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29786" y="58247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Stammdaten &amp; Importe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8516" y="5294376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414820" y="5440680"/>
            <a:ext cx="128016" cy="731520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52564" y="542239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Roadmap &amp; ToDo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52564" y="58247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Aufgaben im Blick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91295" y="5294376"/>
            <a:ext cx="23774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37599" y="5440680"/>
            <a:ext cx="128016" cy="73152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375343" y="5422392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633"/>
                </a:solidFill>
                <a:latin typeface="Calibri"/>
              </a:rPr>
              <a:t>Hilfe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5343" y="5824728"/>
            <a:ext cx="18745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A6473"/>
                </a:solidFill>
                <a:latin typeface="Calibri"/>
              </a:rPr>
              <a:t>Bebildertes Handbuch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So sieht NMGone 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Modernes Design (V2.0) – drei Ansichten aus dem laufenden Programm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751" y="2249424"/>
            <a:ext cx="3749039" cy="210493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ot_v2_startse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331720"/>
            <a:ext cx="3584448" cy="1940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1751" y="4617720"/>
            <a:ext cx="37490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Startseite – Schnellzugriff &amp; globale Suche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1784" y="2249424"/>
            <a:ext cx="3749039" cy="210493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hot_v2_kas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080" y="2331720"/>
            <a:ext cx="3584448" cy="19403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21784" y="4617720"/>
            <a:ext cx="37490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Kasse – Verkauf &amp; Wareneingang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1817" y="2249424"/>
            <a:ext cx="3749039" cy="210493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hot_v2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113" y="2331720"/>
            <a:ext cx="3584448" cy="19403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41817" y="4617720"/>
            <a:ext cx="37490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Report – Kunden-Ampel &amp; Übersicht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Das Herzstück: Analyse &amp; Rabatte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3419856" cy="36576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Marktanalyse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2871216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0B4A86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PK- und ZF-Auswertungen auf Knopfdruck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0B4A86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Produktchancen &amp; Abweichungs-Analyse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0B4A86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Ergebnisse speichern und wiederfinden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9704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9704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9704" y="2011680"/>
            <a:ext cx="3419856" cy="365760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Rabatt-Management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2697480"/>
            <a:ext cx="2871216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6B4FB3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NMG-Rabatte zentral pflegen – mit Verlauf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6B4FB3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Kundenindividuelle PK-Konditionen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6B4FB3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Rabatt-Kaskade automatisch im 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56448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56448" y="2011680"/>
            <a:ext cx="3419856" cy="36576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0768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Kunden &amp; Wissen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697480"/>
            <a:ext cx="2871216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Kundenstamm mit kompletter Historie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Schulbank: lernende Artikel-Zuordnung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Globale Suche über alle Datenbestände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874519" cy="438912"/>
          </a:xfrm>
          <a:prstGeom prst="roundRect">
            <a:avLst>
              <a:gd name="adj" fmla="val 5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87451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NEU: DIE KASSE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5669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Trebuchet MS"/>
              </a:rPr>
              <a:t>Vom Wareneingang bis zum Verkauf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3134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Wareneingang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Artikel kommen rein: PZN, Charge, Verfall, Menge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461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2278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Lagerbestand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Bestand pro Charge &amp; Verfall wird mitgeführt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605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41422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Verkauf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An Apotheken verkaufen, Lager bucht automatisch 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2120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8B5A00"/>
                </a:solidFill>
                <a:latin typeface="Calibri"/>
              </a:rPr>
              <a:t>Mehr als kassieren:  </a:t>
            </a:r>
            <a:r>
              <a:rPr sz="1350" b="0" i="0">
                <a:solidFill>
                  <a:srgbClr val="E8F1FB"/>
                </a:solidFill>
                <a:latin typeface="Calibri"/>
              </a:rPr>
              <a:t>Vorbestellungen &amp; Disposition, Auftragsbestätigung per Druck oder Outlook-Mail, automatische Rabatte, Bestandskorrektur mit Pflicht-Begründung – alles protokolliert.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243584"/>
            <a:ext cx="5696712" cy="31592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ot_v2_ka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532120" cy="29946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89904" y="4512564"/>
            <a:ext cx="5696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DE8"/>
                </a:solidFill>
                <a:latin typeface="Calibri"/>
              </a:rPr>
              <a:t>Verkaufsmaske: Kunde, NMG-Artikel, Charge/Verfall, Rabatt – Beleg per Klick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Was es dem Unternehmen bringt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78992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8992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Zeit gespart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Auswertungen und Verkaufsbelege entstehen in Minuten statt in Stunden Handarbeit.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705959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5959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Nachvollziehbar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247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Jede Änderung mit Mitarbeiter, Zeitpunkt und Vorher/Nachher revisionssicher protokolliert.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6895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32927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2927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295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Weniger Fehler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215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Automatische Rabatt-Logik und Bestandsführung statt fehleranfälliger Handeingaben.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78992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Volle Datenhoheit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00599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Sensible Apotheken-Daten bleiben unter eigener Kontrolle, DSGVO-konform.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49927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705959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5959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4327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Zukunftssicher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4247" y="4800599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Modular aufgebaut und für zentrales, ortsunabhängiges Arbeiten vorbereitet.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6895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332927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32927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1295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Maßgeschneidert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1215" y="4800599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Exakt auf unsere Prozesse zugeschnitten und jederzeit erweiterbar.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B4A86"/>
                </a:solidFill>
                <a:latin typeface="Trebuchet MS"/>
              </a:rPr>
              <a:t>Technik &amp; Sicherheit – kurz erklärt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8745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Windows-Programm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1343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Läuft lokal auf den Arbeitsplätzen, Installation per Setup – kein Server nötig.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8745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Gemeinsame Datenbank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1343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Alle Module teilen eine zentrale Datenbasis (SQLite, mehrplatzfähig).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0896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310896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3444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Automatische Updates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307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Versionsschema mit Meilensteinen &amp; Service-Packs; Updates per Installer.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10896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310896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Datensicherung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7307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Integrierte Backups; sensible Daten verlassen das Haus nicht.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52628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52628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4709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Änderungsprotokoll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14807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Wer-was-wann über alle Module – Grundlage für Auswertung &amp; Revision.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52628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452628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709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Vollständige Eigenentwicklung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14807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Unabhängig von Fremdanbietern und jederzeit an neue Anforderungen anpassbar.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Die Plattform wächst weiter – die nächsten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8780" y="2697480"/>
            <a:ext cx="8854135" cy="54864"/>
          </a:xfrm>
          <a:prstGeom prst="rect">
            <a:avLst/>
          </a:prstGeom>
          <a:solidFill>
            <a:srgbClr val="D8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1823B"/>
                </a:solidFill>
                <a:latin typeface="Calibri"/>
              </a:rPr>
              <a:t>JETZT</a:t>
            </a:r>
          </a:p>
        </p:txBody>
      </p:sp>
      <p:sp>
        <p:nvSpPr>
          <p:cNvPr id="6" name="Oval 5"/>
          <p:cNvSpPr/>
          <p:nvPr/>
        </p:nvSpPr>
        <p:spPr>
          <a:xfrm>
            <a:off x="1623060" y="2587752"/>
            <a:ext cx="274320" cy="274320"/>
          </a:xfrm>
          <a:prstGeom prst="ellipse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V2.0 im Einsatz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Bedarfsanalyse, Mitarbeiter,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Hilfe &amp; Report neu dabei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3338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4A86"/>
                </a:solidFill>
                <a:latin typeface="Calibri"/>
              </a:rPr>
              <a:t>IN ARBEIT</a:t>
            </a:r>
          </a:p>
        </p:txBody>
      </p:sp>
      <p:sp>
        <p:nvSpPr>
          <p:cNvPr id="12" name="Oval 11"/>
          <p:cNvSpPr/>
          <p:nvPr/>
        </p:nvSpPr>
        <p:spPr>
          <a:xfrm>
            <a:off x="4513478" y="2587752"/>
            <a:ext cx="274320" cy="274320"/>
          </a:xfrm>
          <a:prstGeom prst="ellipse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93338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393338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30498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Organigramm-Grafik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930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Mitarbeiter-Struktur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visuell darstellen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3756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4FB3"/>
                </a:solidFill>
                <a:latin typeface="Calibri"/>
              </a:rPr>
              <a:t>GEPLANT</a:t>
            </a:r>
          </a:p>
        </p:txBody>
      </p:sp>
      <p:sp>
        <p:nvSpPr>
          <p:cNvPr id="18" name="Oval 17"/>
          <p:cNvSpPr/>
          <p:nvPr/>
        </p:nvSpPr>
        <p:spPr>
          <a:xfrm>
            <a:off x="7403896" y="2587752"/>
            <a:ext cx="274320" cy="274320"/>
          </a:xfrm>
          <a:prstGeom prst="ellipse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83756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3756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0916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Biosimilar-Wissen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8348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Wirkstoff-Zuordnung 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der Bedarfsanalyse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4175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6E6E"/>
                </a:solidFill>
                <a:latin typeface="Calibri"/>
              </a:rPr>
              <a:t>DAS GROSSE ZIEL</a:t>
            </a:r>
          </a:p>
        </p:txBody>
      </p:sp>
      <p:sp>
        <p:nvSpPr>
          <p:cNvPr id="24" name="Oval 23"/>
          <p:cNvSpPr/>
          <p:nvPr/>
        </p:nvSpPr>
        <p:spPr>
          <a:xfrm>
            <a:off x="10294315" y="2587752"/>
            <a:ext cx="274320" cy="274320"/>
          </a:xfrm>
          <a:prstGeom prst="ellipse">
            <a:avLst/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74175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174175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11335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Cloud-basiertes Arbeiten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8767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Zentrale Daten, mehrplatz-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fähig &amp; weltweit  →  Folie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Gerade in Planung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Woran als Nächstes gearbeitet wird – ein Vorgeschmack aus dem Programm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8681" y="1883664"/>
            <a:ext cx="5738941" cy="31821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ot_v2_mitarbe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77" y="1965960"/>
            <a:ext cx="5574349" cy="3017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681" y="5212080"/>
            <a:ext cx="573894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Mitarbeiter-Modul – aus den Profilen entsteht das Organigramm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15694" y="1883664"/>
            <a:ext cx="4857524" cy="31821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hot_v2_beda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990" y="1965960"/>
            <a:ext cx="4692932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15694" y="5212080"/>
            <a:ext cx="48575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Bedarfsanalyse – künftig mit Biosimilar-/Wirkstoff-Zuordnung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633"/>
                </a:solidFill>
                <a:latin typeface="Calibri"/>
              </a:rPr>
              <a:t>Das große Ziel bleibt das </a:t>
            </a:r>
            <a:r>
              <a:rPr sz="1400" b="1" i="0">
                <a:solidFill>
                  <a:srgbClr val="0B6E6E"/>
                </a:solidFill>
                <a:latin typeface="Calibri"/>
              </a:rPr>
              <a:t>cloud-basierte Arbeiten</a:t>
            </a:r>
            <a:r>
              <a:rPr sz="1400" b="0" i="0">
                <a:solidFill>
                  <a:srgbClr val="1B2633"/>
                </a:solidFill>
                <a:latin typeface="Calibri"/>
              </a:rPr>
              <a:t>  →  nächste Folie.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1148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B4A86"/>
                </a:solidFill>
                <a:latin typeface="Trebuchet MS"/>
              </a:rPr>
              <a:t>Cloud-basiertes Arbeiten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A6473"/>
                </a:solidFill>
                <a:latin typeface="Calibri"/>
              </a:rPr>
              <a:t>Programm lokal, Daten zentral – neue Rabatte oder Kunden sind sofort überall sichtbar, im Büro wie unterwegs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3794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Immer der aktuelle Stand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Neue Rabattliste oder neuer Kunde – sofort bei allen, Büro wie Kasse.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432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06624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Kasse weltweit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Als Web-App ohne App-Store – überall sofort einsatzbereit.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1187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7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7530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DSGVO &amp; EU-Hosting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Daten in EU-Region, verschlüsselt und per Login abgesichert.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48055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5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44398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Schritt für Schritt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Aufbau in Phasen mit geringem Risiko – Konzept &amp; Test stehen bereits.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783080"/>
            <a:ext cx="246888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B4A86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118872" cy="82296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78308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B2633"/>
                </a:solidFill>
                <a:latin typeface="Calibri"/>
              </a:rPr>
              <a:t>NMGone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5A6473"/>
                </a:solidFill>
                <a:latin typeface="Calibri"/>
              </a:rPr>
              <a:t>Büro · lokal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783080"/>
            <a:ext cx="246888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1823B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98280" y="1783080"/>
            <a:ext cx="118872" cy="82296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72600" y="178308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B2633"/>
                </a:solidFill>
                <a:latin typeface="Calibri"/>
              </a:rPr>
              <a:t>Kasse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5A6473"/>
                </a:solidFill>
                <a:latin typeface="Calibri"/>
              </a:rPr>
              <a:t>Web-App · weltweit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7434072" y="2697480"/>
            <a:ext cx="310896" cy="457200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Down Arrow 22"/>
          <p:cNvSpPr/>
          <p:nvPr/>
        </p:nvSpPr>
        <p:spPr>
          <a:xfrm>
            <a:off x="10177272" y="2697480"/>
            <a:ext cx="310896" cy="457200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66560" y="3246120"/>
            <a:ext cx="4434840" cy="822960"/>
          </a:xfrm>
          <a:prstGeom prst="roundRect">
            <a:avLst>
              <a:gd name="adj" fmla="val 7000"/>
            </a:avLst>
          </a:prstGeom>
          <a:solidFill>
            <a:srgbClr val="0B4A86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246120"/>
            <a:ext cx="3977639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API-Backend · EU-Cloud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F1FB"/>
                </a:solidFill>
                <a:latin typeface="Calibri"/>
              </a:rPr>
              <a:t>einziger, abgesicherter Zugang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823960" y="4160520"/>
            <a:ext cx="329184" cy="438912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766560" y="4663440"/>
            <a:ext cx="4434840" cy="822960"/>
          </a:xfrm>
          <a:prstGeom prst="roundRect">
            <a:avLst>
              <a:gd name="adj" fmla="val 7000"/>
            </a:avLst>
          </a:prstGeom>
          <a:solidFill>
            <a:srgbClr val="0B6E6E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4663440"/>
            <a:ext cx="3977639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Zentrale Datenbank · PostgreSQL (EU)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F1FB"/>
                </a:solidFill>
                <a:latin typeface="Calibri"/>
              </a:rPr>
              <a:t>die eine Quelle der Wahrheit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0644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B4A86"/>
                </a:solidFill>
                <a:latin typeface="Calibri"/>
              </a:rPr>
              <a:t>Aufbau in Phasen: 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Aufräumen → Backend → Cloud-Hosting → Umstellen → Go-Live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B4A86"/>
                </a:solidFill>
                <a:latin typeface="Calibri"/>
              </a:rPr>
              <a:t>Sicher &amp; schlank:  </a:t>
            </a:r>
            <a:r>
              <a:rPr sz="1250" b="0" i="0">
                <a:solidFill>
                  <a:srgbClr val="5A6473"/>
                </a:solidFill>
                <a:latin typeface="Calibri"/>
              </a:rPr>
              <a:t>EU-Hosting, DSGVO-konform · kein App-Store nötig · schrittweise mit geringem Risiko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481328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048256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15184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82112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49039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Eine Plattform. Alle Prozesse.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3867B7"/>
                </a:solidFill>
                <a:latin typeface="Trebuchet MS"/>
              </a:rPr>
              <a:t>Für NMG gebaut.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058400" cy="629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 dirty="0" err="1">
                <a:solidFill>
                  <a:srgbClr val="E8F1FB"/>
                </a:solidFill>
                <a:latin typeface="Calibri"/>
              </a:rPr>
              <a:t>NMGone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fasst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Marktanalyse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Rabatte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, Kunden und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Verkauf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zusammen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–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nachvollziehbar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zukunftssicher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und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exakt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auf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unsere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</a:t>
            </a:r>
            <a:r>
              <a:rPr lang="de-DE" sz="1700" b="0" i="0" dirty="0" err="1">
                <a:solidFill>
                  <a:srgbClr val="E8F1FB"/>
                </a:solidFill>
                <a:latin typeface="Calibri"/>
              </a:rPr>
              <a:t>Arbeits</a:t>
            </a:r>
            <a:r>
              <a:rPr lang="de-DE" sz="1700" dirty="0" err="1">
                <a:solidFill>
                  <a:srgbClr val="E8F1FB"/>
                </a:solidFill>
                <a:latin typeface="Calibri"/>
              </a:rPr>
              <a:t>p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rozesse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E8F1FB"/>
                </a:solidFill>
                <a:latin typeface="Calibri"/>
              </a:rPr>
              <a:t>zugeschnitten</a:t>
            </a:r>
            <a:r>
              <a:rPr sz="1700" b="0" i="0" dirty="0">
                <a:solidFill>
                  <a:srgbClr val="E8F1FB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77840"/>
            <a:ext cx="2743200" cy="41148"/>
          </a:xfrm>
          <a:prstGeom prst="rect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8064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9CDE8"/>
                </a:solidFill>
                <a:latin typeface="Calibri"/>
              </a:rPr>
              <a:t>Vielen Dank – gerne beantworte ich Ihre Fragen.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5715000"/>
            <a:ext cx="22402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nm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5879853"/>
            <a:ext cx="1874519" cy="4018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889</Words>
  <Application>Microsoft Office PowerPoint</Application>
  <PresentationFormat>Breitbild</PresentationFormat>
  <Paragraphs>200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Arial</vt:lpstr>
      <vt:lpstr>Calibri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Tino Lambrecht</cp:lastModifiedBy>
  <cp:revision>2</cp:revision>
  <dcterms:created xsi:type="dcterms:W3CDTF">2013-01-27T09:14:16Z</dcterms:created>
  <dcterms:modified xsi:type="dcterms:W3CDTF">2026-06-23T18:37:12Z</dcterms:modified>
  <cp:category/>
</cp:coreProperties>
</file>