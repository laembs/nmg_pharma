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60120"/>
            <a:ext cx="365760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MG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39516"/>
            <a:ext cx="2432304" cy="140716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937760" y="178308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386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21808" y="178308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05856" y="178308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8B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9904" y="178308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3952" y="178308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E8F1FB"/>
                </a:solidFill>
                <a:latin typeface="Trebuchet MS"/>
              </a:rPr>
              <a:t>Die digitale Plattform für Marktanalyse,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E8F1FB"/>
                </a:solidFill>
                <a:latin typeface="Trebuchet MS"/>
              </a:rPr>
              <a:t>Rabattmanagement und Warenwirtschaft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92040"/>
            <a:ext cx="2926080" cy="41148"/>
          </a:xfrm>
          <a:prstGeom prst="rect">
            <a:avLst/>
          </a:prstGeom>
          <a:solidFill>
            <a:srgbClr val="386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9CDE8"/>
                </a:solidFill>
                <a:latin typeface="Calibri"/>
              </a:rPr>
              <a:t>Eigenentwicklung  ·  Stand V2.0  ·  Juni 2026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FB6D6"/>
                </a:solidFill>
                <a:latin typeface="Calibri"/>
              </a:rPr>
              <a:t>Präsentation für die Geschäftsführung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0B4A86"/>
                </a:solidFill>
                <a:latin typeface="Trebuchet MS"/>
              </a:rPr>
              <a:t>Auf einen 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2633"/>
                </a:solidFill>
                <a:latin typeface="Calibri"/>
              </a:rPr>
              <a:t>NMGone bündelt alle wiederkehrenden Aufgaben rund um Apotheken-Marktanalyse, Rabatte, Kundendaten und Verkauf in </a:t>
            </a:r>
            <a:r>
              <a:rPr sz="1700" b="1" i="0">
                <a:solidFill>
                  <a:srgbClr val="0B4A86"/>
                </a:solidFill>
                <a:latin typeface="Calibri"/>
              </a:rPr>
              <a:t>einem einzigen, selbst entwickelten Programm</a:t>
            </a:r>
            <a:r>
              <a:rPr sz="1700" b="0" i="0">
                <a:solidFill>
                  <a:srgbClr val="1B2633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97480"/>
            <a:ext cx="2423160" cy="22860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2423160" cy="118872"/>
          </a:xfrm>
          <a:prstGeom prst="roundRect">
            <a:avLst>
              <a:gd name="adj" fmla="val 40000"/>
            </a:avLst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2148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0B4A86"/>
                </a:solidFill>
                <a:latin typeface="Trebuchet M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A6473"/>
                </a:solidFill>
                <a:latin typeface="Calibri"/>
              </a:rPr>
              <a:t>Module unter einer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A6473"/>
                </a:solidFill>
                <a:latin typeface="Calibri"/>
              </a:rPr>
              <a:t>Oberfläche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2697480"/>
            <a:ext cx="2423160" cy="22860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9584" y="2697480"/>
            <a:ext cx="2423160" cy="118872"/>
          </a:xfrm>
          <a:prstGeom prst="roundRect">
            <a:avLst>
              <a:gd name="adj" fmla="val 40000"/>
            </a:avLst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3063240"/>
            <a:ext cx="2148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11823B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3" y="4069080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A6473"/>
                </a:solidFill>
                <a:latin typeface="Calibri"/>
              </a:rPr>
              <a:t>Installation, eine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A6473"/>
                </a:solidFill>
                <a:latin typeface="Calibri"/>
              </a:rPr>
              <a:t>gemeinsame Datenbasis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697480"/>
            <a:ext cx="2423160" cy="22860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2697480"/>
            <a:ext cx="2423160" cy="118872"/>
          </a:xfrm>
          <a:prstGeom prst="roundRect">
            <a:avLst>
              <a:gd name="adj" fmla="val 40000"/>
            </a:avLst>
          </a:prstGeom>
          <a:solidFill>
            <a:srgbClr val="8B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063240"/>
            <a:ext cx="2148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8B5A00"/>
                </a:solidFill>
                <a:latin typeface="Trebuchet MS"/>
              </a:rPr>
              <a:t>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069080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A6473"/>
                </a:solidFill>
                <a:latin typeface="Calibri"/>
              </a:rPr>
              <a:t>Aktueller Stand 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A6473"/>
                </a:solidFill>
                <a:latin typeface="Calibri"/>
              </a:rPr>
              <a:t>Kasse inklusive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2697480"/>
            <a:ext cx="2423160" cy="22860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42832" y="2697480"/>
            <a:ext cx="2423160" cy="118872"/>
          </a:xfrm>
          <a:prstGeom prst="roundRect">
            <a:avLst>
              <a:gd name="adj" fmla="val 40000"/>
            </a:avLst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9992" y="3063240"/>
            <a:ext cx="2148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6B4FB3"/>
                </a:solidFill>
                <a:latin typeface="Trebuchet MS"/>
              </a:rPr>
              <a:t>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4069080"/>
            <a:ext cx="2057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A6473"/>
                </a:solidFill>
                <a:latin typeface="Calibri"/>
              </a:rPr>
              <a:t>laufende Lizenz-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5A6473"/>
                </a:solidFill>
                <a:latin typeface="Calibri"/>
              </a:rPr>
              <a:t>kosten Dritter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4A86"/>
                </a:solidFill>
                <a:latin typeface="Calibri"/>
              </a:rPr>
              <a:t>Kernnutzen:  </a:t>
            </a:r>
            <a:r>
              <a:rPr sz="1500" b="0" i="0">
                <a:solidFill>
                  <a:srgbClr val="1B2633"/>
                </a:solidFill>
                <a:latin typeface="Calibri"/>
              </a:rPr>
              <a:t>maßgeschneidert auf unsere Prozesse, vollständig protokolliert (wer / was / wann), Daten bleiben im Haus.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0B4A86"/>
                </a:solidFill>
                <a:latin typeface="Trebuchet MS"/>
              </a:rPr>
              <a:t>Warum NMGone?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5A6473"/>
                </a:solidFill>
                <a:latin typeface="Calibri"/>
              </a:rPr>
              <a:t>Die Ausgangslage – verteilte Werkzeuge, manueller Aufwand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4A86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B2633"/>
                </a:solidFill>
                <a:latin typeface="Calibri"/>
              </a:rPr>
              <a:t>Verteilte Excel-Dateien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Auswertungen, Rabatte und Kundenlisten lagen in vielen einzelnen Dateien – schwer aktuell zu halten.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1868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186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4A86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72968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B2633"/>
                </a:solidFill>
                <a:latin typeface="Calibri"/>
              </a:rPr>
              <a:t>Manuelle Auswertung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Marktanalysen wurden von Hand zusammengestellt – zeitaufwendig und fehleranfällig.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428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428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4A86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97096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B2633"/>
                </a:solidFill>
                <a:latin typeface="Calibri"/>
              </a:rPr>
              <a:t>Keine Nachvollziehbarkeit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Änderungen ließen sich kaum zurückverfolgen – wer hat wann was geändert?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2669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266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B4A86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21224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B2633"/>
                </a:solidFill>
                <a:latin typeface="Calibri"/>
              </a:rPr>
              <a:t>Kein durchgängiger Verkaufsweg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Wareneingang, Lager und Verkauf waren nicht verbunden.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194560"/>
            <a:ext cx="4434840" cy="4114800"/>
          </a:xfrm>
          <a:prstGeom prst="roundRect">
            <a:avLst>
              <a:gd name="adj" fmla="val 4000"/>
            </a:avLst>
          </a:prstGeom>
          <a:solidFill>
            <a:srgbClr val="0B4A86"/>
          </a:solidFill>
          <a:ln>
            <a:noFill/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560320"/>
            <a:ext cx="3703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Die Antwort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200400"/>
            <a:ext cx="3703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8F1FB"/>
                </a:solidFill>
                <a:latin typeface="Calibri"/>
              </a:rPr>
              <a:t>Ein Programm statt vieler Insellösungen.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E8F1FB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Eine gemeinsame Datenbasis für alle Module.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E8F1FB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Jede Änderung wird automatisch protokolliert.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E8F1FB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Von der Marktanalyse bis zum fertigen Verkauf – durchgängig.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4A86"/>
                </a:solidFill>
                <a:latin typeface="Trebuchet MS"/>
              </a:rPr>
              <a:t>Eine Plattform – viele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5A6473"/>
                </a:solidFill>
                <a:latin typeface="Calibri"/>
              </a:rPr>
              <a:t>Alle Werkzeuge erreichbar über ein gemeinsames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" y="2057400"/>
            <a:ext cx="146304" cy="93268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203911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Bedarfsanalyse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25146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PK-/ZW-Marktanalysen starten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5738" y="1874519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10330" y="2057400"/>
            <a:ext cx="146304" cy="932688"/>
          </a:xfrm>
          <a:prstGeom prst="rect">
            <a:avLst/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6362" y="203911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Produktanalyse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6362" y="25146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Produktchancen erkennen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8516" y="1874519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33108" y="2057400"/>
            <a:ext cx="146304" cy="932688"/>
          </a:xfrm>
          <a:prstGeom prst="rect">
            <a:avLst/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9140" y="203911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NMG-Rabatte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9140" y="25146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Rabatte, Statistik, Verlauf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1295" y="1874519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55887" y="2057400"/>
            <a:ext cx="146304" cy="93268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1919" y="203911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PK-Konditionen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1919" y="25146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Kundenindividuelle Rabatte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374135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" y="3557015"/>
            <a:ext cx="146304" cy="932688"/>
          </a:xfrm>
          <a:prstGeom prst="rect">
            <a:avLst/>
          </a:prstGeom>
          <a:solidFill>
            <a:srgbClr val="8B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3584" y="353872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Kasse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4014215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Verkauf + Wareneingang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5738" y="3374135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10330" y="3557015"/>
            <a:ext cx="146304" cy="93268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6362" y="353872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Kunden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6362" y="4014215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Kundenstamm &amp; Historie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8516" y="3374135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33108" y="3557015"/>
            <a:ext cx="146304" cy="932688"/>
          </a:xfrm>
          <a:prstGeom prst="rect">
            <a:avLst/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9140" y="353872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Schulbank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9140" y="4014215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Lernvorschläge pflegen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91295" y="3374135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55887" y="3557015"/>
            <a:ext cx="146304" cy="93268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1919" y="3538727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Vergleichs-Suche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1919" y="4014215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PZN/Artikel schnell finden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873752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7552" y="5056632"/>
            <a:ext cx="146304" cy="93268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43584" y="503834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Globale Suche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3584" y="551383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Kunde, Analyse, Artikel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45738" y="4873752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0330" y="5056632"/>
            <a:ext cx="146304" cy="932688"/>
          </a:xfrm>
          <a:prstGeom prst="rect">
            <a:avLst/>
          </a:prstGeom>
          <a:solidFill>
            <a:srgbClr val="8B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66362" y="503834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Abweichungsanalyse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66362" y="551383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Manuell vs. Programm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8516" y="4873752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3108" y="5056632"/>
            <a:ext cx="146304" cy="932688"/>
          </a:xfrm>
          <a:prstGeom prst="rect">
            <a:avLst/>
          </a:prstGeom>
          <a:solidFill>
            <a:srgbClr val="5A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89140" y="503834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Daten aktualisieren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89140" y="551383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Stammdaten &amp; Importe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91295" y="4873752"/>
            <a:ext cx="2377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55887" y="5056632"/>
            <a:ext cx="146304" cy="932688"/>
          </a:xfrm>
          <a:prstGeom prst="rect">
            <a:avLst/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1919" y="503834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B2633"/>
                </a:solidFill>
                <a:latin typeface="Calibri"/>
              </a:rPr>
              <a:t>Roadmap &amp; ToDo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1919" y="5513832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473"/>
                </a:solidFill>
                <a:latin typeface="Calibri"/>
              </a:rPr>
              <a:t>Aufgaben im Blick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4A86"/>
                </a:solidFill>
                <a:latin typeface="Trebuchet MS"/>
              </a:rPr>
              <a:t>So sieht NMGone aus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5A6473"/>
                </a:solidFill>
                <a:latin typeface="Calibri"/>
              </a:rPr>
              <a:t>Klare, einheitliche Oberfläche – drei Ansichten aus dem laufenden Programm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20824"/>
            <a:ext cx="3639312" cy="23988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2103120"/>
            <a:ext cx="3474720" cy="22342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617720"/>
            <a:ext cx="3639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Startseite – Schnellzugriff &amp; globale Suche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6648" y="2020824"/>
            <a:ext cx="3639312" cy="24646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kas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944" y="2103120"/>
            <a:ext cx="3474720" cy="23000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76648" y="4617720"/>
            <a:ext cx="3639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Kasse – Verkauf, Wareneingang &amp; Vorbestellungen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7537" y="2020824"/>
            <a:ext cx="3639312" cy="23988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_ap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833" y="2103120"/>
            <a:ext cx="3474720" cy="22342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87537" y="4617720"/>
            <a:ext cx="36393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Apps – alle Module mit einem Klick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4A86"/>
                </a:solidFill>
                <a:latin typeface="Trebuchet MS"/>
              </a:rPr>
              <a:t>Das Herzstück: Analyse &amp; Rabatte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3419856" cy="44805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3419856" cy="777240"/>
          </a:xfrm>
          <a:prstGeom prst="roundRect">
            <a:avLst>
              <a:gd name="adj" fmla="val 6000"/>
            </a:avLst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3419856" cy="365760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287121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Marktanalyse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28712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0B4A86"/>
                </a:solidFill>
                <a:latin typeface="Calibri"/>
              </a:rPr>
              <a:t>—  </a:t>
            </a:r>
            <a:r>
              <a:rPr sz="1400">
                <a:solidFill>
                  <a:srgbClr val="1B2633"/>
                </a:solidFill>
                <a:latin typeface="Calibri"/>
              </a:rPr>
              <a:t>PK- und ZF-Auswertungen auf Knopfdruck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0B4A86"/>
                </a:solidFill>
                <a:latin typeface="Calibri"/>
              </a:rPr>
              <a:t>—  </a:t>
            </a:r>
            <a:r>
              <a:rPr sz="1400">
                <a:solidFill>
                  <a:srgbClr val="1B2633"/>
                </a:solidFill>
                <a:latin typeface="Calibri"/>
              </a:rPr>
              <a:t>Produktchancen &amp; Abweichungs-Analyse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0B4A86"/>
                </a:solidFill>
                <a:latin typeface="Calibri"/>
              </a:rPr>
              <a:t>—  </a:t>
            </a:r>
            <a:r>
              <a:rPr sz="1400">
                <a:solidFill>
                  <a:srgbClr val="1B2633"/>
                </a:solidFill>
                <a:latin typeface="Calibri"/>
              </a:rPr>
              <a:t>Ergebnisse speichern und wiederfinden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1600200"/>
            <a:ext cx="3419856" cy="44805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9704" y="1600200"/>
            <a:ext cx="3419856" cy="777240"/>
          </a:xfrm>
          <a:prstGeom prst="roundRect">
            <a:avLst>
              <a:gd name="adj" fmla="val 6000"/>
            </a:avLst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9704" y="2011680"/>
            <a:ext cx="3419856" cy="365760"/>
          </a:xfrm>
          <a:prstGeom prst="rect">
            <a:avLst/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600200"/>
            <a:ext cx="287121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Rabatt-Management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697480"/>
            <a:ext cx="28712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6B4FB3"/>
                </a:solidFill>
                <a:latin typeface="Calibri"/>
              </a:rPr>
              <a:t>—  </a:t>
            </a:r>
            <a:r>
              <a:rPr sz="1400">
                <a:solidFill>
                  <a:srgbClr val="1B2633"/>
                </a:solidFill>
                <a:latin typeface="Calibri"/>
              </a:rPr>
              <a:t>NMG-Rabatte zentral pflegen – mit Verlauf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6B4FB3"/>
                </a:solidFill>
                <a:latin typeface="Calibri"/>
              </a:rPr>
              <a:t>—  </a:t>
            </a:r>
            <a:r>
              <a:rPr sz="1400">
                <a:solidFill>
                  <a:srgbClr val="1B2633"/>
                </a:solidFill>
                <a:latin typeface="Calibri"/>
              </a:rPr>
              <a:t>Kundenindividuelle PK-Konditionen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6B4FB3"/>
                </a:solidFill>
                <a:latin typeface="Calibri"/>
              </a:rPr>
              <a:t>—  </a:t>
            </a:r>
            <a:r>
              <a:rPr sz="1400">
                <a:solidFill>
                  <a:srgbClr val="1B2633"/>
                </a:solidFill>
                <a:latin typeface="Calibri"/>
              </a:rPr>
              <a:t>Rabatt-Kaskade automatisch im Verkauf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600200"/>
            <a:ext cx="3419856" cy="448056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6448" y="1600200"/>
            <a:ext cx="3419856" cy="777240"/>
          </a:xfrm>
          <a:prstGeom prst="roundRect">
            <a:avLst>
              <a:gd name="adj" fmla="val 6000"/>
            </a:avLst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2011680"/>
            <a:ext cx="3419856" cy="365760"/>
          </a:xfrm>
          <a:prstGeom prst="rect">
            <a:avLst/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600200"/>
            <a:ext cx="287121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Kunden &amp; Wissen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697480"/>
            <a:ext cx="28712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1823B"/>
                </a:solidFill>
                <a:latin typeface="Calibri"/>
              </a:rPr>
              <a:t>—  </a:t>
            </a:r>
            <a:r>
              <a:rPr sz="1400">
                <a:solidFill>
                  <a:srgbClr val="1B2633"/>
                </a:solidFill>
                <a:latin typeface="Calibri"/>
              </a:rPr>
              <a:t>Kundenstamm mit kompletter Historie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1823B"/>
                </a:solidFill>
                <a:latin typeface="Calibri"/>
              </a:rPr>
              <a:t>—  </a:t>
            </a:r>
            <a:r>
              <a:rPr sz="1400">
                <a:solidFill>
                  <a:srgbClr val="1B2633"/>
                </a:solidFill>
                <a:latin typeface="Calibri"/>
              </a:rPr>
              <a:t>Schulbank: lernende Artikel-Zuordnung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11823B"/>
                </a:solidFill>
                <a:latin typeface="Calibri"/>
              </a:rPr>
              <a:t>—  </a:t>
            </a:r>
            <a:r>
              <a:rPr sz="1400">
                <a:solidFill>
                  <a:srgbClr val="1B2633"/>
                </a:solidFill>
                <a:latin typeface="Calibri"/>
              </a:rPr>
              <a:t>Globale Suche über alle Datenbestände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874519" cy="438912"/>
          </a:xfrm>
          <a:prstGeom prst="roundRect">
            <a:avLst>
              <a:gd name="adj" fmla="val 50000"/>
            </a:avLst>
          </a:prstGeom>
          <a:solidFill>
            <a:srgbClr val="8B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87451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NEU: DIE KASSE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5669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Trebuchet MS"/>
              </a:rPr>
              <a:t>Vom Wareneingang bis zum Verkauf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313432"/>
            <a:ext cx="4297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Wareneingang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F1FB"/>
                </a:solidFill>
                <a:latin typeface="Calibri"/>
              </a:rPr>
              <a:t>Artikel kommen rein: PZN, Charge, Verfall, Menge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386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227832"/>
            <a:ext cx="4297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Lagerbestand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F1FB"/>
                </a:solidFill>
                <a:latin typeface="Calibri"/>
              </a:rPr>
              <a:t>Bestand pro Charge &amp; Verfall wird mitgeführt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8B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4142232"/>
            <a:ext cx="4297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rebuchet MS"/>
              </a:rPr>
              <a:t>Verkauf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F1FB"/>
                </a:solidFill>
                <a:latin typeface="Calibri"/>
              </a:rPr>
              <a:t>An Apotheken verkaufen, Lager bucht automatisch 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5212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8B5A00"/>
                </a:solidFill>
                <a:latin typeface="Calibri"/>
              </a:rPr>
              <a:t>Mehr als kassieren:  </a:t>
            </a:r>
            <a:r>
              <a:rPr sz="1350" b="0" i="0">
                <a:solidFill>
                  <a:srgbClr val="E8F1FB"/>
                </a:solidFill>
                <a:latin typeface="Calibri"/>
              </a:rPr>
              <a:t>Vorbestellungen &amp; Disposition, Auftragsbestätigung per Druck oder Outlook-Mail, automatische Rabatte, Bestandskorrektur mit Pflicht-Begründung – alles protokolliert.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969263"/>
            <a:ext cx="5513831" cy="37054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ot_ka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51560"/>
            <a:ext cx="5349240" cy="35408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81344" y="4784416"/>
            <a:ext cx="55138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DE8"/>
                </a:solidFill>
                <a:latin typeface="Calibri"/>
              </a:rPr>
              <a:t>Verkaufsmaske: Kunde, NMG-Artikel, Charge/Verfall, Rabatt – Beleg per Klick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B4A86"/>
                </a:solidFill>
                <a:latin typeface="Trebuchet MS"/>
              </a:rPr>
              <a:t>Was es dem Unternehmen bringt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8992" y="185623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92807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633"/>
                </a:solidFill>
                <a:latin typeface="Trebuchet MS"/>
              </a:rPr>
              <a:t>Zeit gespart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Auswertungen und Verkaufsbelege entstehen in Minuten statt in Stunden Handarbeit.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160020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5959" y="185623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5959" y="18562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4327" y="1892807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633"/>
                </a:solidFill>
                <a:latin typeface="Trebuchet MS"/>
              </a:rPr>
              <a:t>Nachvollziehbar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25603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Jede Änderung mit Mitarbeiter, Zeitpunkt und Vorher/Nachher revisionssicher protokolliert.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6895" y="160020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32927" y="185623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2927" y="18562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1892807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633"/>
                </a:solidFill>
                <a:latin typeface="Trebuchet MS"/>
              </a:rPr>
              <a:t>Weniger Fehler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215" y="25603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Automatische Rabatt-Logik und Bestandsführung statt fehleranfälliger Handeingaben.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40479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8992" y="4096511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8B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096511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133087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633"/>
                </a:solidFill>
                <a:latin typeface="Trebuchet MS"/>
              </a:rPr>
              <a:t>Daten im Haus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00599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Lokale Datenbank – keine Cloud, keine sensiblen Apotheken-Daten bei Dritten.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9927" y="3840479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5959" y="4096511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5959" y="4096511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4327" y="4133087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633"/>
                </a:solidFill>
                <a:latin typeface="Trebuchet MS"/>
              </a:rPr>
              <a:t>Keine Fremdkosten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4247" y="4800599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Eigenentwicklung – keine laufenden Lizenzgebühren für externe Software.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6895" y="3840479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32927" y="4096511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386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2927" y="4096511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1295" y="4133087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B2633"/>
                </a:solidFill>
                <a:latin typeface="Trebuchet MS"/>
              </a:rPr>
              <a:t>Maßgeschneidert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1215" y="4800599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473"/>
                </a:solidFill>
                <a:latin typeface="Calibri"/>
              </a:rPr>
              <a:t>Exakt auf unsere Prozesse zugeschnitten und jederzeit erweiterbar.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B4A86"/>
                </a:solidFill>
                <a:latin typeface="Trebuchet MS"/>
              </a:rPr>
              <a:t>Technik &amp; Sicherheit – kurz erklärt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46304" cy="120700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8745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4A86"/>
                </a:solidFill>
                <a:latin typeface="Trebuchet MS"/>
              </a:rPr>
              <a:t>Windows-Programm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1343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Läuft lokal auf den Arbeitsplätzen, Installation per Setup – kein Server nötig.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691640"/>
            <a:ext cx="146304" cy="120700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745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4A86"/>
                </a:solidFill>
                <a:latin typeface="Trebuchet MS"/>
              </a:rPr>
              <a:t>Gemeinsame Datenbank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1343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Alle Module teilen eine zentrale Datenbasis (SQLite, mehrplatzfähig).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08960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08960"/>
            <a:ext cx="146304" cy="120700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291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4A86"/>
                </a:solidFill>
                <a:latin typeface="Trebuchet MS"/>
              </a:rPr>
              <a:t>Automatische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307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Versionsschema mit Meilensteinen &amp; Service-Packs; Updates per Installer.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108960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3108960"/>
            <a:ext cx="146304" cy="120700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291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4A86"/>
                </a:solidFill>
                <a:latin typeface="Trebuchet MS"/>
              </a:rPr>
              <a:t>Datensicherung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73075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Integrierte Backups; sensible Daten verlassen das Haus nicht.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26280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26280"/>
            <a:ext cx="146304" cy="120700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7091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4A86"/>
                </a:solidFill>
                <a:latin typeface="Trebuchet MS"/>
              </a:rPr>
              <a:t>Änderungsprotokoll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14807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Wer-was-wann über alle Module – Grundlage für Auswertung &amp; Revision.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526280"/>
            <a:ext cx="52120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526280"/>
            <a:ext cx="146304" cy="1207008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7091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B4A86"/>
                </a:solidFill>
                <a:latin typeface="Trebuchet MS"/>
              </a:rPr>
              <a:t>Eigene Codebasis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14807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Vollständig im Haus entwickelt – unabhängig von Fremdanbietern.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0B4A86"/>
                </a:solidFill>
                <a:latin typeface="Trebuchet MS"/>
              </a:rPr>
              <a:t>Ausblick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5A6473"/>
                </a:solidFill>
                <a:latin typeface="Calibri"/>
              </a:rPr>
              <a:t>Die Plattform wächst weiter – die nächsten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68780" y="2697480"/>
            <a:ext cx="8854135" cy="54864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1823B"/>
                </a:solidFill>
                <a:latin typeface="Calibri"/>
              </a:rPr>
              <a:t>JETZT</a:t>
            </a:r>
          </a:p>
        </p:txBody>
      </p:sp>
      <p:sp>
        <p:nvSpPr>
          <p:cNvPr id="6" name="Oval 5"/>
          <p:cNvSpPr/>
          <p:nvPr/>
        </p:nvSpPr>
        <p:spPr>
          <a:xfrm>
            <a:off x="1623060" y="2587752"/>
            <a:ext cx="274320" cy="274320"/>
          </a:xfrm>
          <a:prstGeom prst="ellipse">
            <a:avLst/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00400"/>
            <a:ext cx="2514600" cy="23317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3200400"/>
            <a:ext cx="2514600" cy="109728"/>
          </a:xfrm>
          <a:prstGeom prst="roundRect">
            <a:avLst>
              <a:gd name="adj" fmla="val 40000"/>
            </a:avLst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84448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B2633"/>
                </a:solidFill>
                <a:latin typeface="Trebuchet MS"/>
              </a:rPr>
              <a:t>V2.0 im Einsatz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434840"/>
            <a:ext cx="21854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Bedarfsanalyse, Mitarbeiter,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Hilfe &amp; Report neu dabei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3338" y="2240280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4A86"/>
                </a:solidFill>
                <a:latin typeface="Calibri"/>
              </a:rPr>
              <a:t>IN ARBEIT</a:t>
            </a:r>
          </a:p>
        </p:txBody>
      </p:sp>
      <p:sp>
        <p:nvSpPr>
          <p:cNvPr id="12" name="Oval 11"/>
          <p:cNvSpPr/>
          <p:nvPr/>
        </p:nvSpPr>
        <p:spPr>
          <a:xfrm>
            <a:off x="4513478" y="2587752"/>
            <a:ext cx="274320" cy="274320"/>
          </a:xfrm>
          <a:prstGeom prst="ellipse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3338" y="3200400"/>
            <a:ext cx="2514600" cy="23317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3338" y="3200400"/>
            <a:ext cx="2514600" cy="109728"/>
          </a:xfrm>
          <a:prstGeom prst="roundRect">
            <a:avLst>
              <a:gd name="adj" fmla="val 40000"/>
            </a:avLst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8" y="3584448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B2633"/>
                </a:solidFill>
                <a:latin typeface="Trebuchet MS"/>
              </a:rPr>
              <a:t>Organigramm-Grafik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4434840"/>
            <a:ext cx="21854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Mitarbeiter-Struktur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visuell darstellen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3756" y="2240280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4FB3"/>
                </a:solidFill>
                <a:latin typeface="Calibri"/>
              </a:rPr>
              <a:t>GEPLANT</a:t>
            </a:r>
          </a:p>
        </p:txBody>
      </p:sp>
      <p:sp>
        <p:nvSpPr>
          <p:cNvPr id="18" name="Oval 17"/>
          <p:cNvSpPr/>
          <p:nvPr/>
        </p:nvSpPr>
        <p:spPr>
          <a:xfrm>
            <a:off x="7403896" y="2587752"/>
            <a:ext cx="274320" cy="274320"/>
          </a:xfrm>
          <a:prstGeom prst="ellipse">
            <a:avLst/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3756" y="3200400"/>
            <a:ext cx="2514600" cy="23317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83756" y="3200400"/>
            <a:ext cx="2514600" cy="109728"/>
          </a:xfrm>
          <a:prstGeom prst="roundRect">
            <a:avLst>
              <a:gd name="adj" fmla="val 40000"/>
            </a:avLst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0916" y="3584448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B2633"/>
                </a:solidFill>
                <a:latin typeface="Trebuchet MS"/>
              </a:rPr>
              <a:t>Biosimilar-Wissen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348" y="4434840"/>
            <a:ext cx="21854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Wirkstoff-Zuordnung in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der Bedarfsanalyse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4175" y="2240280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6E6E"/>
                </a:solidFill>
                <a:latin typeface="Calibri"/>
              </a:rPr>
              <a:t>DAS GROSSE ZIEL</a:t>
            </a:r>
          </a:p>
        </p:txBody>
      </p:sp>
      <p:sp>
        <p:nvSpPr>
          <p:cNvPr id="24" name="Oval 23"/>
          <p:cNvSpPr/>
          <p:nvPr/>
        </p:nvSpPr>
        <p:spPr>
          <a:xfrm>
            <a:off x="10294315" y="2587752"/>
            <a:ext cx="274320" cy="274320"/>
          </a:xfrm>
          <a:prstGeom prst="ellipse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74175" y="3200400"/>
            <a:ext cx="2514600" cy="2331720"/>
          </a:xfrm>
          <a:prstGeom prst="roundRect">
            <a:avLst>
              <a:gd name="adj" fmla="val 7000"/>
            </a:avLst>
          </a:prstGeom>
          <a:solidFill>
            <a:srgbClr val="F5F7FB"/>
          </a:solidFill>
          <a:ln w="12700">
            <a:solidFill>
              <a:srgbClr val="D8DFEA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74175" y="3200400"/>
            <a:ext cx="2514600" cy="109728"/>
          </a:xfrm>
          <a:prstGeom prst="roundRect">
            <a:avLst>
              <a:gd name="adj" fmla="val 40000"/>
            </a:avLst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1335" y="3584448"/>
            <a:ext cx="2240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B2633"/>
                </a:solidFill>
                <a:latin typeface="Trebuchet MS"/>
              </a:rPr>
              <a:t>Cloud-basiertes Arbeiten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8767" y="4434840"/>
            <a:ext cx="21854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Zentrale Daten, mehrplatz-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fähig &amp; weltweit  →  Folie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B4A86"/>
                </a:solidFill>
                <a:latin typeface="Trebuchet MS"/>
              </a:rPr>
              <a:t>Cloud-basiertes Arbeiten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5A6473"/>
                </a:solidFill>
                <a:latin typeface="Calibri"/>
              </a:rPr>
              <a:t>Programm lokal, Daten zentral – neue Rabatte oder Kunden sind sofort überall sichtbar, im Büro wie unterwegs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37943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B2633"/>
                </a:solidFill>
                <a:latin typeface="Calibri"/>
              </a:rPr>
              <a:t>Immer der aktuelle Stand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Neue Rabattliste oder neuer Kunde – sofort bei allen, Büro wie Kasse.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06624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B2633"/>
                </a:solidFill>
                <a:latin typeface="Calibri"/>
              </a:rPr>
              <a:t>Kasse weltweit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Als Web-App ohne App-Store – überall sofort einsatzbereit.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1187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118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75303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B2633"/>
                </a:solidFill>
                <a:latin typeface="Calibri"/>
              </a:rPr>
              <a:t>DSGVO &amp; EU-Hosting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Daten in EU-Region, verschlüsselt und per Login abgesichert.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8055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8B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43983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B2633"/>
                </a:solidFill>
                <a:latin typeface="Calibri"/>
              </a:rPr>
              <a:t>Schritt für Schritt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A6473"/>
                </a:solidFill>
                <a:latin typeface="Calibri"/>
              </a:rPr>
              <a:t>Aufbau in Phasen mit geringem Risiko – Konzept &amp; Test stehen bereits.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246888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B4A86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118872" cy="822960"/>
          </a:xfrm>
          <a:prstGeom prst="rect">
            <a:avLst/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78308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B2633"/>
                </a:solidFill>
                <a:latin typeface="Calibri"/>
              </a:rPr>
              <a:t>NMGone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5A6473"/>
                </a:solidFill>
                <a:latin typeface="Calibri"/>
              </a:rPr>
              <a:t>Büro · lokal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783080"/>
            <a:ext cx="246888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1823B"/>
            </a:solidFill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783080"/>
            <a:ext cx="118872" cy="822960"/>
          </a:xfrm>
          <a:prstGeom prst="rect">
            <a:avLst/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78308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B2633"/>
                </a:solidFill>
                <a:latin typeface="Calibri"/>
              </a:rPr>
              <a:t>Kasse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5A6473"/>
                </a:solidFill>
                <a:latin typeface="Calibri"/>
              </a:rPr>
              <a:t>Web-App · weltweit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434072" y="2697480"/>
            <a:ext cx="310896" cy="457200"/>
          </a:xfrm>
          <a:prstGeom prst="downArrow">
            <a:avLst/>
          </a:prstGeom>
          <a:solidFill>
            <a:srgbClr val="386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10177272" y="2697480"/>
            <a:ext cx="310896" cy="457200"/>
          </a:xfrm>
          <a:prstGeom prst="downArrow">
            <a:avLst/>
          </a:prstGeom>
          <a:solidFill>
            <a:srgbClr val="386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0" y="3246120"/>
            <a:ext cx="4434840" cy="822960"/>
          </a:xfrm>
          <a:prstGeom prst="roundRect">
            <a:avLst>
              <a:gd name="adj" fmla="val 7000"/>
            </a:avLst>
          </a:prstGeom>
          <a:solidFill>
            <a:srgbClr val="0B4A86"/>
          </a:solidFill>
          <a:ln>
            <a:noFill/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3246120"/>
            <a:ext cx="397763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API-Backend · EU-Cloud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E8F1FB"/>
                </a:solidFill>
                <a:latin typeface="Calibri"/>
              </a:rPr>
              <a:t>einziger, abgesicherter Zugang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823960" y="4160520"/>
            <a:ext cx="329184" cy="438912"/>
          </a:xfrm>
          <a:prstGeom prst="downArrow">
            <a:avLst/>
          </a:prstGeom>
          <a:solidFill>
            <a:srgbClr val="386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66560" y="4663440"/>
            <a:ext cx="4434840" cy="822960"/>
          </a:xfrm>
          <a:prstGeom prst="roundRect">
            <a:avLst>
              <a:gd name="adj" fmla="val 7000"/>
            </a:avLst>
          </a:prstGeom>
          <a:solidFill>
            <a:srgbClr val="0B6E6E"/>
          </a:solidFill>
          <a:ln>
            <a:noFill/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4663440"/>
            <a:ext cx="397763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Zentrale Datenbank · PostgreSQL (EU)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E8F1FB"/>
                </a:solidFill>
                <a:latin typeface="Calibri"/>
              </a:rPr>
              <a:t>die eine Quelle der Wahrheit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064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B4A86"/>
                </a:solidFill>
                <a:latin typeface="Calibri"/>
              </a:rPr>
              <a:t>Aufbau in Phasen:  </a:t>
            </a:r>
            <a:r>
              <a:rPr sz="1250" b="0" i="0">
                <a:solidFill>
                  <a:srgbClr val="1B2633"/>
                </a:solidFill>
                <a:latin typeface="Calibri"/>
              </a:rPr>
              <a:t>Aufräumen → Backend → Cloud-Hosting → Umstellen → Go-Live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B4A86"/>
                </a:solidFill>
                <a:latin typeface="Calibri"/>
              </a:rPr>
              <a:t>Betriebskosten moderat:  </a:t>
            </a:r>
            <a:r>
              <a:rPr sz="1250" b="0" i="0">
                <a:solidFill>
                  <a:srgbClr val="5A6473"/>
                </a:solidFill>
                <a:latin typeface="Calibri"/>
              </a:rPr>
              <a:t>ca. 30–80 €/Monat (EU-Hosting + Datenbank) · kein App-Store nötig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64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E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0B4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81328" y="128016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386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48256" y="128016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118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15184" y="128016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8B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82112" y="128016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6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39" y="128016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Eine Plattform. Alle Prozesse.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3867B7"/>
                </a:solidFill>
                <a:latin typeface="Trebuchet MS"/>
              </a:rPr>
              <a:t>Im Haus gebaut.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E8F1FB"/>
                </a:solidFill>
                <a:latin typeface="Calibri"/>
              </a:rPr>
              <a:t>NMGone fasst Marktanalyse, Rabatte, Kunden und Verkauf zusammen – nachvollziehbar, kostenneutral und exakt auf unsere Apotheken-Prozesse zugeschnitten.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577840"/>
            <a:ext cx="2743200" cy="41148"/>
          </a:xfrm>
          <a:prstGeom prst="rect">
            <a:avLst/>
          </a:prstGeom>
          <a:solidFill>
            <a:srgbClr val="386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9CDE8"/>
                </a:solidFill>
                <a:latin typeface="Calibri"/>
              </a:rPr>
              <a:t>Vielen Dank – gerne beantworte ich Ihre Fragen.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5715000"/>
            <a:ext cx="2240280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6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m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5879853"/>
            <a:ext cx="1874519" cy="4018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