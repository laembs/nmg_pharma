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60120"/>
            <a:ext cx="365760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NMG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39516"/>
            <a:ext cx="2432304" cy="140716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937760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21808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05856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89904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73952" y="1783080"/>
            <a:ext cx="256032" cy="256032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E8F1FB"/>
                </a:solidFill>
                <a:latin typeface="Trebuchet MS"/>
              </a:rPr>
              <a:t>Die digitale Plattform für Marktanalyse,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E8F1FB"/>
                </a:solidFill>
                <a:latin typeface="Trebuchet MS"/>
              </a:rPr>
              <a:t>Rabattmanagement und Warenwirtschaft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892040"/>
            <a:ext cx="2926080" cy="41148"/>
          </a:xfrm>
          <a:prstGeom prst="rect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 dirty="0" err="1">
                <a:solidFill>
                  <a:srgbClr val="B9CDE8"/>
                </a:solidFill>
                <a:latin typeface="Calibri"/>
              </a:rPr>
              <a:t>Eigenentwicklung</a:t>
            </a:r>
            <a:r>
              <a:rPr sz="1600" b="1" i="0" dirty="0">
                <a:solidFill>
                  <a:srgbClr val="B9CDE8"/>
                </a:solidFill>
                <a:latin typeface="Calibri"/>
              </a:rPr>
              <a:t>  ·  Stand V1.2 SP</a:t>
            </a:r>
            <a:r>
              <a:rPr lang="de-DE" sz="1600" b="1" i="0" dirty="0">
                <a:solidFill>
                  <a:srgbClr val="B9CDE8"/>
                </a:solidFill>
                <a:latin typeface="Calibri"/>
              </a:rPr>
              <a:t>2</a:t>
            </a:r>
            <a:r>
              <a:rPr sz="1600" b="1" i="0" dirty="0">
                <a:solidFill>
                  <a:srgbClr val="B9CDE8"/>
                </a:solidFill>
                <a:latin typeface="Calibri"/>
              </a:rPr>
              <a:t>  ·  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2633"/>
                </a:solidFill>
                <a:latin typeface="Calibri"/>
              </a:rPr>
              <a:t>NMGone bündelt alle wiederkehrenden Aufgaben rund um Apotheken-Marktanalyse, Rabatte, Kundendaten und Verkauf in </a:t>
            </a:r>
            <a:r>
              <a:rPr sz="1700" b="1" i="0">
                <a:solidFill>
                  <a:srgbClr val="0B4A86"/>
                </a:solidFill>
                <a:latin typeface="Calibri"/>
              </a:rPr>
              <a:t>einem einzigen, selbst entwickelten Programm</a:t>
            </a:r>
            <a:r>
              <a:rPr sz="1700" b="0" i="0">
                <a:solidFill>
                  <a:srgbClr val="1B2633"/>
                </a:solidFill>
                <a:latin typeface="Calibri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0B4A86"/>
                </a:solidFill>
                <a:latin typeface="Trebuchet M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Module unter einer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Oberfläche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29584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11823B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3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Installation, eine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gemeinsame Datenbasis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36208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3320385"/>
            <a:ext cx="214884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 dirty="0">
                <a:solidFill>
                  <a:srgbClr val="8B5A00"/>
                </a:solidFill>
                <a:latin typeface="Trebuchet MS"/>
              </a:rPr>
              <a:t>V1.2 SP</a:t>
            </a:r>
            <a:r>
              <a:rPr lang="de-DE" sz="2600" b="1" i="0" dirty="0">
                <a:solidFill>
                  <a:srgbClr val="8B5A00"/>
                </a:solidFill>
                <a:latin typeface="Trebuchet MS"/>
              </a:rPr>
              <a:t>2</a:t>
            </a:r>
            <a:endParaRPr sz="2600" b="1" i="0" dirty="0">
              <a:solidFill>
                <a:srgbClr val="8B5A00"/>
              </a:solidFill>
              <a:latin typeface="Trebuchet M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19088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Aktueller Stand 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Kasse inklusive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2832" y="2697480"/>
            <a:ext cx="2423160" cy="22860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942832" y="2697480"/>
            <a:ext cx="2423160" cy="118872"/>
          </a:xfrm>
          <a:prstGeom prst="roundRect">
            <a:avLst>
              <a:gd name="adj" fmla="val 4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79992" y="306324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6B4FB3"/>
                </a:solidFill>
                <a:latin typeface="Trebuchet MS"/>
              </a:rPr>
              <a:t>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1" y="4069080"/>
            <a:ext cx="2057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laufende Lizenz-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 i="0">
                <a:solidFill>
                  <a:srgbClr val="5A6473"/>
                </a:solidFill>
                <a:latin typeface="Calibri"/>
              </a:rPr>
              <a:t>kosten Dritter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4A86"/>
                </a:solidFill>
                <a:latin typeface="Calibri"/>
              </a:rPr>
              <a:t>Kernnutzen:  </a:t>
            </a:r>
            <a:r>
              <a:rPr sz="1500" b="0" i="0">
                <a:solidFill>
                  <a:srgbClr val="1B2633"/>
                </a:solidFill>
                <a:latin typeface="Calibri"/>
              </a:rPr>
              <a:t>maßgeschneidert auf unsere Prozesse, vollständig protokolliert (wer / was / wann), Daten bleiben im Haus.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Warum NMGone?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5A6473"/>
                </a:solidFill>
                <a:latin typeface="Calibri"/>
              </a:rPr>
              <a:t>Die Ausgangslage – verteilte Werkzeuge, manueller Aufwand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Verteilte Excel-Dateien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Auswertungen, Rabatte und Kundenlisten lagen in vielen einzelnen Dateien – schwer aktuell zu halten.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1868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32186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72968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Manuelle Auswertung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Marktanalysen wurden von Hand zusammengestellt – zeitaufwendig und fehleranfällig.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4281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2428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97096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Keine Nachvollziehbarkeit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Änderungen ließen sich kaum zurückverfolgen – wer hat wann was geändert?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66944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4A86"/>
                </a:solidFill>
                <a:latin typeface="Trebuchet M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221224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B2633"/>
                </a:solidFill>
                <a:latin typeface="Calibri"/>
              </a:rPr>
              <a:t>Kein durchgängiger Verkaufsweg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Wareneingang, Lager und Verkauf waren nicht verbunden.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194560"/>
            <a:ext cx="4434840" cy="4114800"/>
          </a:xfrm>
          <a:prstGeom prst="roundRect">
            <a:avLst>
              <a:gd name="adj" fmla="val 4000"/>
            </a:avLst>
          </a:prstGeom>
          <a:solidFill>
            <a:srgbClr val="0B4A86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80" y="2560320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Die Antwort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200400"/>
            <a:ext cx="3703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8F1FB"/>
                </a:solidFill>
                <a:latin typeface="Calibri"/>
              </a:rPr>
              <a:t>Ein Programm statt vieler Insellösungen.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500" b="1" i="0">
              <a:solidFill>
                <a:srgbClr val="E8F1FB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Eine gemeinsame Datenbasis für alle Module.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450" b="0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Jede Änderung wird automatisch protokolliert.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endParaRPr sz="1450" b="0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Von der Marktanalyse bis zum fertigen Verkauf – durchgängig.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Eine Plattform – viele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Alle Werkzeuge erreichbar über ein gemeinsames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87552" y="2057400"/>
            <a:ext cx="146304" cy="93268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3584" y="203911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Neue Auswertung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PK-/ZF-Marktanalysen starten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5738" y="1874519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710330" y="2057400"/>
            <a:ext cx="146304" cy="932688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6362" y="203911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Produktanalyse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6362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Produktchancen erkennen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8516" y="1874519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33108" y="2057400"/>
            <a:ext cx="146304" cy="932688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89140" y="203911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NMG-Rabatte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9140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Rabatte, Statistik, Verlauf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1295" y="1874519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55887" y="2057400"/>
            <a:ext cx="146304" cy="93268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1919" y="203911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PK-Konditionen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1919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Kundenindividuelle Rabatte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374135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87552" y="3557015"/>
            <a:ext cx="146304" cy="932688"/>
          </a:xfrm>
          <a:prstGeom prst="rect">
            <a:avLst/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43584" y="3538727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Kasse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" y="4014215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Verkauf + Wareneingang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45738" y="3374135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710330" y="3557015"/>
            <a:ext cx="146304" cy="93268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66362" y="3538727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Kunden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6362" y="4014215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Kundenstamm &amp; Historie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8516" y="3374135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33108" y="3557015"/>
            <a:ext cx="146304" cy="932688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89140" y="3538727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Schulbank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9140" y="4014215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Lernvorschläge pflegen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1295" y="3374135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55887" y="3557015"/>
            <a:ext cx="146304" cy="932688"/>
          </a:xfrm>
          <a:prstGeom prst="rect">
            <a:avLst/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1919" y="3538727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Vergleichs-Suche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1919" y="4014215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PZN/Artikel schnell finden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873752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87552" y="5056632"/>
            <a:ext cx="146304" cy="93268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43584" y="50383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Globale Suche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51383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Kunde, Analyse, Artikel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45738" y="4873752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710330" y="5056632"/>
            <a:ext cx="146304" cy="932688"/>
          </a:xfrm>
          <a:prstGeom prst="rect">
            <a:avLst/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966362" y="50383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Abweichungsanalyse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66362" y="551383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Manuell vs. Programm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8516" y="4873752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33108" y="5056632"/>
            <a:ext cx="146304" cy="932688"/>
          </a:xfrm>
          <a:prstGeom prst="rect">
            <a:avLst/>
          </a:prstGeom>
          <a:solidFill>
            <a:srgbClr val="5A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89140" y="50383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Daten aktualisieren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9140" y="551383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Stammdaten &amp; Importe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1295" y="4873752"/>
            <a:ext cx="23774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155887" y="5056632"/>
            <a:ext cx="146304" cy="932688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1919" y="50383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2633"/>
                </a:solidFill>
                <a:latin typeface="Calibri"/>
              </a:rPr>
              <a:t>Roadmap &amp; ToDo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1919" y="551383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473"/>
                </a:solidFill>
                <a:latin typeface="Calibri"/>
              </a:rPr>
              <a:t>Aufgaben im Blick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So sieht NMGone 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Klare, einheitliche Oberfläche – drei Ansichten aus dem laufenden Programm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020824"/>
            <a:ext cx="3639312" cy="23988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2103120"/>
            <a:ext cx="3474720" cy="2234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617720"/>
            <a:ext cx="36393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Startseite – Schnellzugriff &amp; globale Suche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6648" y="2020824"/>
            <a:ext cx="3639312" cy="246461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hot_kas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944" y="2103120"/>
            <a:ext cx="3474720" cy="23000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76648" y="4617720"/>
            <a:ext cx="36393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Kasse – Verkauf, Wareneingang &amp; Vorbestellungen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7537" y="2020824"/>
            <a:ext cx="3639312" cy="23988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hot_ap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9833" y="2103120"/>
            <a:ext cx="3474720" cy="22342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7537" y="4617720"/>
            <a:ext cx="36393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Apps – alle Module mit einem Klick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Das Herzstück: Analyse &amp; Rabatte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3419856" cy="36576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Marktanalyse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2871216" cy="16418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0B4A86"/>
                </a:solidFill>
                <a:latin typeface="Calibri"/>
              </a:rPr>
              <a:t>—  </a:t>
            </a:r>
            <a:r>
              <a:rPr sz="1400" dirty="0">
                <a:solidFill>
                  <a:srgbClr val="1B2633"/>
                </a:solidFill>
                <a:latin typeface="Calibri"/>
              </a:rPr>
              <a:t>PK- und Z</a:t>
            </a:r>
            <a:r>
              <a:rPr lang="de-DE" sz="1400" dirty="0">
                <a:solidFill>
                  <a:srgbClr val="1B2633"/>
                </a:solidFill>
                <a:latin typeface="Calibri"/>
              </a:rPr>
              <a:t>W</a:t>
            </a:r>
            <a:r>
              <a:rPr sz="1400" dirty="0">
                <a:solidFill>
                  <a:srgbClr val="1B2633"/>
                </a:solidFill>
                <a:latin typeface="Calibri"/>
              </a:rPr>
              <a:t>-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Auswertungen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auf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Knopfdruck</a:t>
            </a:r>
            <a:endParaRPr sz="1400" dirty="0">
              <a:solidFill>
                <a:srgbClr val="1B2633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0B4A86"/>
                </a:solidFill>
                <a:latin typeface="Calibri"/>
              </a:rPr>
              <a:t>— 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Produktchancen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&amp;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Abweichungs-Analyse</a:t>
            </a:r>
            <a:endParaRPr sz="1400" dirty="0">
              <a:solidFill>
                <a:srgbClr val="1B2633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0B4A86"/>
                </a:solidFill>
                <a:latin typeface="Calibri"/>
              </a:rPr>
              <a:t>— 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Ergebnisse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speichern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und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wiederfinden</a:t>
            </a:r>
            <a:endParaRPr sz="1400" dirty="0">
              <a:solidFill>
                <a:srgbClr val="1B2633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489704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9704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9704" y="2011680"/>
            <a:ext cx="3419856" cy="365760"/>
          </a:xfrm>
          <a:prstGeom prst="rect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4024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Rabatt-Management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2697480"/>
            <a:ext cx="2871216" cy="16418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6B4FB3"/>
                </a:solidFill>
                <a:latin typeface="Calibri"/>
              </a:rPr>
              <a:t>—  </a:t>
            </a:r>
            <a:r>
              <a:rPr sz="1400" dirty="0">
                <a:solidFill>
                  <a:srgbClr val="1B2633"/>
                </a:solidFill>
                <a:latin typeface="Calibri"/>
              </a:rPr>
              <a:t>NMG-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Rabatte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zentral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pflegen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–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mit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Verlauf</a:t>
            </a:r>
            <a:endParaRPr sz="1400" dirty="0">
              <a:solidFill>
                <a:srgbClr val="1B2633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6B4FB3"/>
                </a:solidFill>
                <a:latin typeface="Calibri"/>
              </a:rPr>
              <a:t>— 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Kundenindividuelle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P</a:t>
            </a:r>
            <a:r>
              <a:rPr lang="de-DE" sz="1400" dirty="0" err="1">
                <a:solidFill>
                  <a:srgbClr val="1B2633"/>
                </a:solidFill>
                <a:latin typeface="Calibri"/>
              </a:rPr>
              <a:t>artnerk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onditionen</a:t>
            </a:r>
            <a:endParaRPr sz="1400" dirty="0">
              <a:solidFill>
                <a:srgbClr val="1B2633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 dirty="0">
                <a:solidFill>
                  <a:srgbClr val="6B4FB3"/>
                </a:solidFill>
                <a:latin typeface="Calibri"/>
              </a:rPr>
              <a:t>— 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Rabatt</a:t>
            </a:r>
            <a:r>
              <a:rPr sz="1400" dirty="0">
                <a:solidFill>
                  <a:srgbClr val="1B2633"/>
                </a:solidFill>
                <a:latin typeface="Calibri"/>
              </a:rPr>
              <a:t>-Kaskade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automatisch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im</a:t>
            </a:r>
            <a:r>
              <a:rPr sz="1400" dirty="0">
                <a:solidFill>
                  <a:srgbClr val="1B2633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B2633"/>
                </a:solidFill>
                <a:latin typeface="Calibri"/>
              </a:rPr>
              <a:t>Verkauf</a:t>
            </a:r>
            <a:endParaRPr sz="1400" dirty="0">
              <a:solidFill>
                <a:srgbClr val="1B2633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56448" y="1600200"/>
            <a:ext cx="3419856" cy="44805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56448" y="1600200"/>
            <a:ext cx="3419856" cy="777240"/>
          </a:xfrm>
          <a:prstGeom prst="roundRect">
            <a:avLst>
              <a:gd name="adj" fmla="val 6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56448" y="2011680"/>
            <a:ext cx="3419856" cy="36576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0768" y="1600200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Trebuchet MS"/>
              </a:rPr>
              <a:t>Kunden &amp; Wissen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697480"/>
            <a:ext cx="2871216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Kundenstamm mit kompletter Historie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Schulbank: lernende Artikel-Zuordnung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1823B"/>
                </a:solidFill>
                <a:latin typeface="Calibri"/>
              </a:rPr>
              <a:t>—  </a:t>
            </a:r>
            <a:r>
              <a:rPr sz="1400">
                <a:solidFill>
                  <a:srgbClr val="1B2633"/>
                </a:solidFill>
                <a:latin typeface="Calibri"/>
              </a:rPr>
              <a:t>Globale Suche über alle Datenbestände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874519" cy="438912"/>
          </a:xfrm>
          <a:prstGeom prst="roundRect">
            <a:avLst>
              <a:gd name="adj" fmla="val 5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874519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NEU: DIE KASSE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5669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Trebuchet MS"/>
              </a:rPr>
              <a:t>Vom Wareneingang bis zum Verkauf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3134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Wareneingang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Artikel kommen rein: PZN, Charge, Verfall, Menge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461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2278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Lagerbestand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Bestand pro Charge &amp; Verfall wird mitgeführt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6052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4142232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Verkauf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F1FB"/>
                </a:solidFill>
                <a:latin typeface="Calibri"/>
              </a:rPr>
              <a:t>An Apotheken verkaufen, Lager bucht automatisch 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2120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8B5A00"/>
                </a:solidFill>
                <a:latin typeface="Calibri"/>
              </a:rPr>
              <a:t>Mehr als kassieren:  </a:t>
            </a:r>
            <a:r>
              <a:rPr sz="1350" b="0" i="0">
                <a:solidFill>
                  <a:srgbClr val="E8F1FB"/>
                </a:solidFill>
                <a:latin typeface="Calibri"/>
              </a:rPr>
              <a:t>Vorbestellungen &amp; Disposition, Auftragsbestätigung per Druck oder Outlook-Mail, automatische Rabatte, Bestandskorrektur mit Pflicht-Begründung – alles protokolliert.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969263"/>
            <a:ext cx="5513831" cy="370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ot_ka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51560"/>
            <a:ext cx="5349240" cy="35408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1344" y="4784416"/>
            <a:ext cx="5513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DE8"/>
                </a:solidFill>
                <a:latin typeface="Calibri"/>
              </a:rPr>
              <a:t>Verkaufsmaske: Kunde, NMG-Artikel, Charge/Verfall, Rabatt – Beleg per Klick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0B4A86"/>
                </a:solidFill>
                <a:latin typeface="Trebuchet MS"/>
              </a:rPr>
              <a:t>Was es dem Unternehmen bringt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78992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8992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Zeit gespart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Auswertungen und Verkaufsbelege entstehen in Minuten statt in Stunden Handarbeit.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705959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5959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Nachvollziehbar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247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Jede Änderung mit Mitarbeiter, Zeitpunkt und Vorher/Nachher revisionssicher protokolliert.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6895" y="160020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32927" y="1856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2927" y="185623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295" y="189280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Weniger Fehler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215" y="256032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Automatische Rabatt-Logik und Bestandsführung statt fehleranfälliger Handeingaben.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78992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Daten im Haus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00599"/>
            <a:ext cx="2743200" cy="64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 dirty="0" err="1">
                <a:solidFill>
                  <a:srgbClr val="5A6473"/>
                </a:solidFill>
                <a:latin typeface="Calibri"/>
              </a:rPr>
              <a:t>Lokale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Datenbank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– </a:t>
            </a:r>
            <a:r>
              <a:rPr lang="de-DE" sz="1300" b="0" i="0" dirty="0">
                <a:solidFill>
                  <a:srgbClr val="5A6473"/>
                </a:solidFill>
                <a:latin typeface="Calibri"/>
              </a:rPr>
              <a:t>noch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keine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Cloud,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keine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sensiblen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Apotheken-Daten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bei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Dritten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49927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705959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5959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4327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Keine Fremdkosten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4247" y="4800599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3"/>
                </a:solidFill>
                <a:latin typeface="Calibri"/>
              </a:rPr>
              <a:t>Eigenentwicklung – keine laufenden Lizenzgebühren für externe Software.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6895" y="3840479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332927" y="4096511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32927" y="4096511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1295" y="4133087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B2633"/>
                </a:solidFill>
                <a:latin typeface="Trebuchet MS"/>
              </a:rPr>
              <a:t>Maßgeschneidert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1215" y="4800599"/>
            <a:ext cx="2743200" cy="429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 dirty="0" err="1">
                <a:solidFill>
                  <a:srgbClr val="5A6473"/>
                </a:solidFill>
                <a:latin typeface="Calibri"/>
              </a:rPr>
              <a:t>Exakt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auf </a:t>
            </a:r>
            <a:r>
              <a:rPr lang="de-DE" sz="1300" dirty="0">
                <a:solidFill>
                  <a:srgbClr val="5A6473"/>
                </a:solidFill>
                <a:latin typeface="Calibri"/>
              </a:rPr>
              <a:t>Ihre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Prozesse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zugeschnitten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und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jederzeit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A6473"/>
                </a:solidFill>
                <a:latin typeface="Calibri"/>
              </a:rPr>
              <a:t>erweiterbar</a:t>
            </a:r>
            <a:r>
              <a:rPr sz="1300" b="0" i="0" dirty="0">
                <a:solidFill>
                  <a:srgbClr val="5A6473"/>
                </a:solidFill>
                <a:latin typeface="Calibri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B4A86"/>
                </a:solidFill>
                <a:latin typeface="Trebuchet MS"/>
              </a:rPr>
              <a:t>Technik &amp; Sicherheit – kurz erklärt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8745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Windows-Programm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13432"/>
            <a:ext cx="4572000" cy="3958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5A6473"/>
                </a:solidFill>
                <a:latin typeface="Calibri"/>
              </a:rPr>
              <a:t>Läuft</a:t>
            </a:r>
            <a:r>
              <a:rPr sz="1250" b="0" i="0" dirty="0">
                <a:solidFill>
                  <a:srgbClr val="5A6473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5A6473"/>
                </a:solidFill>
                <a:latin typeface="Calibri"/>
              </a:rPr>
              <a:t>lokal</a:t>
            </a:r>
            <a:r>
              <a:rPr sz="1250" b="0" i="0" dirty="0">
                <a:solidFill>
                  <a:srgbClr val="5A6473"/>
                </a:solidFill>
                <a:latin typeface="Calibri"/>
              </a:rPr>
              <a:t> auf den </a:t>
            </a:r>
            <a:r>
              <a:rPr sz="1250" b="0" i="0" dirty="0" err="1">
                <a:solidFill>
                  <a:srgbClr val="5A6473"/>
                </a:solidFill>
                <a:latin typeface="Calibri"/>
              </a:rPr>
              <a:t>Arbeitsplätzen</a:t>
            </a:r>
            <a:r>
              <a:rPr sz="1250" b="0" i="0" dirty="0">
                <a:solidFill>
                  <a:srgbClr val="5A6473"/>
                </a:solidFill>
                <a:latin typeface="Calibri"/>
              </a:rPr>
              <a:t>, Installation per Setup – </a:t>
            </a:r>
            <a:r>
              <a:rPr lang="de-DE" sz="1250" b="0" i="0" dirty="0">
                <a:solidFill>
                  <a:srgbClr val="5A6473"/>
                </a:solidFill>
                <a:latin typeface="Calibri"/>
              </a:rPr>
              <a:t>noch </a:t>
            </a:r>
            <a:r>
              <a:rPr sz="1250" b="0" i="0" dirty="0" err="1">
                <a:solidFill>
                  <a:srgbClr val="5A6473"/>
                </a:solidFill>
                <a:latin typeface="Calibri"/>
              </a:rPr>
              <a:t>kein</a:t>
            </a:r>
            <a:r>
              <a:rPr sz="1250" b="0" i="0" dirty="0">
                <a:solidFill>
                  <a:srgbClr val="5A6473"/>
                </a:solidFill>
                <a:latin typeface="Calibri"/>
              </a:rPr>
              <a:t> Server </a:t>
            </a:r>
            <a:r>
              <a:rPr sz="1250" b="0" i="0" dirty="0" err="1">
                <a:solidFill>
                  <a:srgbClr val="5A6473"/>
                </a:solidFill>
                <a:latin typeface="Calibri"/>
              </a:rPr>
              <a:t>nötig</a:t>
            </a:r>
            <a:r>
              <a:rPr sz="1250" b="0" i="0" dirty="0">
                <a:solidFill>
                  <a:srgbClr val="5A6473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8745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Gemeinsame Datenbank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1343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Alle Module teilen eine zentrale Datenbasis (SQLite, mehrplatzfähig).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0896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310896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3444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Automatische Updates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307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Versionsschema mit Meilensteinen &amp; Service-Packs; Updates per Installer.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10896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310896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291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Datensicherung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7307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Integrierte Backups; sensible Daten verlassen das Haus nicht.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52628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52628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4709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Änderungsprotokoll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14807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Wer-was-wann über alle Module – Grundlage für Auswertung &amp; Revision.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52628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4526280"/>
            <a:ext cx="146304" cy="1207008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709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4A86"/>
                </a:solidFill>
                <a:latin typeface="Trebuchet MS"/>
              </a:rPr>
              <a:t>Eigene Codebasis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14807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Vollständig im Haus entwickelt – unabhängig von Fremdanbietern.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B4A86"/>
                </a:solidFill>
                <a:latin typeface="Trebuchet MS"/>
              </a:rPr>
              <a:t>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A6473"/>
                </a:solidFill>
                <a:latin typeface="Calibri"/>
              </a:rPr>
              <a:t>Die Plattform wächst weiter – die nächsten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8780" y="2697480"/>
            <a:ext cx="8854135" cy="54864"/>
          </a:xfrm>
          <a:prstGeom prst="rect">
            <a:avLst/>
          </a:prstGeom>
          <a:solidFill>
            <a:srgbClr val="D8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1823B"/>
                </a:solidFill>
                <a:latin typeface="Calibri"/>
              </a:rPr>
              <a:t>JETZT</a:t>
            </a:r>
          </a:p>
        </p:txBody>
      </p:sp>
      <p:sp>
        <p:nvSpPr>
          <p:cNvPr id="6" name="Oval 5"/>
          <p:cNvSpPr/>
          <p:nvPr/>
        </p:nvSpPr>
        <p:spPr>
          <a:xfrm>
            <a:off x="1623060" y="2587752"/>
            <a:ext cx="274320" cy="274320"/>
          </a:xfrm>
          <a:prstGeom prst="ellipse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785224"/>
            <a:ext cx="224028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 dirty="0">
                <a:solidFill>
                  <a:srgbClr val="1B2633"/>
                </a:solidFill>
                <a:latin typeface="Trebuchet MS"/>
              </a:rPr>
              <a:t>V1.2 SP</a:t>
            </a:r>
            <a:r>
              <a:rPr lang="de-DE" sz="1550" b="1" i="0" dirty="0">
                <a:solidFill>
                  <a:srgbClr val="1B2633"/>
                </a:solidFill>
                <a:latin typeface="Trebuchet MS"/>
              </a:rPr>
              <a:t>2</a:t>
            </a:r>
            <a:r>
              <a:rPr sz="1550" b="1" i="0" dirty="0">
                <a:solidFill>
                  <a:srgbClr val="1B2633"/>
                </a:solidFill>
                <a:latin typeface="Trebuchet MS"/>
              </a:rPr>
              <a:t> </a:t>
            </a:r>
            <a:r>
              <a:rPr sz="1550" b="1" i="0" dirty="0" err="1">
                <a:solidFill>
                  <a:srgbClr val="1B2633"/>
                </a:solidFill>
                <a:latin typeface="Trebuchet MS"/>
              </a:rPr>
              <a:t>im</a:t>
            </a:r>
            <a:r>
              <a:rPr sz="1550" b="1" i="0" dirty="0">
                <a:solidFill>
                  <a:srgbClr val="1B2633"/>
                </a:solidFill>
                <a:latin typeface="Trebuchet MS"/>
              </a:rPr>
              <a:t> </a:t>
            </a:r>
            <a:r>
              <a:rPr lang="de-DE" sz="1550" b="1" dirty="0">
                <a:solidFill>
                  <a:srgbClr val="1B2633"/>
                </a:solidFill>
                <a:latin typeface="Trebuchet MS"/>
              </a:rPr>
              <a:t>Test</a:t>
            </a:r>
            <a:endParaRPr sz="1550" b="1" i="0" dirty="0">
              <a:solidFill>
                <a:srgbClr val="1B2633"/>
              </a:solidFill>
              <a:latin typeface="Trebuchet M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Kasse, Rabatte und Analyse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produktiv nutzbar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3338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4A86"/>
                </a:solidFill>
                <a:latin typeface="Calibri"/>
              </a:rPr>
              <a:t>GEPLANT</a:t>
            </a:r>
          </a:p>
        </p:txBody>
      </p:sp>
      <p:sp>
        <p:nvSpPr>
          <p:cNvPr id="12" name="Oval 11"/>
          <p:cNvSpPr/>
          <p:nvPr/>
        </p:nvSpPr>
        <p:spPr>
          <a:xfrm>
            <a:off x="4513478" y="2587752"/>
            <a:ext cx="274320" cy="274320"/>
          </a:xfrm>
          <a:prstGeom prst="ellipse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93338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393338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30498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Mitarbeiter-Programm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930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Wer macht was, Organigramm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&amp; Zuständigkeiten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3756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4FB3"/>
                </a:solidFill>
                <a:latin typeface="Calibri"/>
              </a:rPr>
              <a:t>GEPLANT</a:t>
            </a:r>
          </a:p>
        </p:txBody>
      </p:sp>
      <p:sp>
        <p:nvSpPr>
          <p:cNvPr id="18" name="Oval 17"/>
          <p:cNvSpPr/>
          <p:nvPr/>
        </p:nvSpPr>
        <p:spPr>
          <a:xfrm>
            <a:off x="7403896" y="2587752"/>
            <a:ext cx="274320" cy="274320"/>
          </a:xfrm>
          <a:prstGeom prst="ellipse">
            <a:avLst/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83756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3756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0916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Report-Programm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8348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Modulübergreifende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Auswertung aller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4175" y="2240280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6E6E"/>
                </a:solidFill>
                <a:latin typeface="Calibri"/>
              </a:rPr>
              <a:t>DAS GROSSE ZIEL</a:t>
            </a:r>
          </a:p>
        </p:txBody>
      </p:sp>
      <p:sp>
        <p:nvSpPr>
          <p:cNvPr id="24" name="Oval 23"/>
          <p:cNvSpPr/>
          <p:nvPr/>
        </p:nvSpPr>
        <p:spPr>
          <a:xfrm>
            <a:off x="10294315" y="2587752"/>
            <a:ext cx="274320" cy="274320"/>
          </a:xfrm>
          <a:prstGeom prst="ellipse">
            <a:avLst/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74175" y="3200400"/>
            <a:ext cx="2514600" cy="233172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 w="12700">
            <a:solidFill>
              <a:srgbClr val="D8DFEA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174175" y="3200400"/>
            <a:ext cx="2514600" cy="109728"/>
          </a:xfrm>
          <a:prstGeom prst="roundRect">
            <a:avLst>
              <a:gd name="adj" fmla="val 4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11335" y="358444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2633"/>
                </a:solidFill>
                <a:latin typeface="Trebuchet MS"/>
              </a:rPr>
              <a:t>Cloud-basiertes Arbeiten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8767" y="4434840"/>
            <a:ext cx="21854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Zentrale Daten, mehrplatz-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fähig &amp; weltweit  →  Folie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1148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B4A86"/>
                </a:solidFill>
                <a:latin typeface="Trebuchet MS"/>
              </a:rPr>
              <a:t>Cloud-basiertes Arbeiten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A6473"/>
                </a:solidFill>
                <a:latin typeface="Calibri"/>
              </a:rPr>
              <a:t>Programm lokal, Daten zentral – neue Rabatte oder Kunden sind sofort überall sichtbar, im Büro wie unterwegs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3794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Immer der aktuelle Stand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Neue Rabattliste oder neuer Kunde – sofort bei allen, Büro wie Kasse.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432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06624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Kasse weltweit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Als Web-App ohne App-Store – überall sofort einsatzbereit.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1187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7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7530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DSGVO &amp; EU-Hosting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Daten in EU-Region, verschlüsselt und per Login abgesichert.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480559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5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443983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B2633"/>
                </a:solidFill>
                <a:latin typeface="Calibri"/>
              </a:rPr>
              <a:t>Schritt für Schritt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5A6473"/>
                </a:solidFill>
                <a:latin typeface="Calibri"/>
              </a:rPr>
              <a:t>Aufbau in Phasen mit geringem Risiko – Konzept &amp; Test stehen bereits.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783080"/>
            <a:ext cx="246888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B4A86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118872" cy="822960"/>
          </a:xfrm>
          <a:prstGeom prst="rect">
            <a:avLst/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78308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B2633"/>
                </a:solidFill>
                <a:latin typeface="Calibri"/>
              </a:rPr>
              <a:t>NMGone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5A6473"/>
                </a:solidFill>
                <a:latin typeface="Calibri"/>
              </a:rPr>
              <a:t>Büro · lokal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783080"/>
            <a:ext cx="246888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1823B"/>
            </a:solidFill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98280" y="1783080"/>
            <a:ext cx="118872" cy="822960"/>
          </a:xfrm>
          <a:prstGeom prst="rect">
            <a:avLst/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72600" y="178308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B2633"/>
                </a:solidFill>
                <a:latin typeface="Calibri"/>
              </a:rPr>
              <a:t>Kasse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5A6473"/>
                </a:solidFill>
                <a:latin typeface="Calibri"/>
              </a:rPr>
              <a:t>Web-App · weltweit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7434072" y="2697480"/>
            <a:ext cx="310896" cy="457200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Down Arrow 22"/>
          <p:cNvSpPr/>
          <p:nvPr/>
        </p:nvSpPr>
        <p:spPr>
          <a:xfrm>
            <a:off x="10177272" y="2697480"/>
            <a:ext cx="310896" cy="457200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66560" y="3246120"/>
            <a:ext cx="4434840" cy="822960"/>
          </a:xfrm>
          <a:prstGeom prst="roundRect">
            <a:avLst>
              <a:gd name="adj" fmla="val 7000"/>
            </a:avLst>
          </a:prstGeom>
          <a:solidFill>
            <a:srgbClr val="0B4A86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246120"/>
            <a:ext cx="3977639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API-Backend · EU-Cloud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F1FB"/>
                </a:solidFill>
                <a:latin typeface="Calibri"/>
              </a:rPr>
              <a:t>einziger, abgesicherter Zugang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823960" y="4160520"/>
            <a:ext cx="329184" cy="438912"/>
          </a:xfrm>
          <a:prstGeom prst="downArrow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766560" y="4663440"/>
            <a:ext cx="4434840" cy="822960"/>
          </a:xfrm>
          <a:prstGeom prst="roundRect">
            <a:avLst>
              <a:gd name="adj" fmla="val 7000"/>
            </a:avLst>
          </a:prstGeom>
          <a:solidFill>
            <a:srgbClr val="0B6E6E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4663440"/>
            <a:ext cx="3977639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Zentrale Datenbank · PostgreSQL (EU)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F1FB"/>
                </a:solidFill>
                <a:latin typeface="Calibri"/>
              </a:rPr>
              <a:t>die eine Quelle der Wahrheit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0644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B4A86"/>
                </a:solidFill>
                <a:latin typeface="Calibri"/>
              </a:rPr>
              <a:t>Aufbau in Phasen:  </a:t>
            </a:r>
            <a:r>
              <a:rPr sz="1250" b="0" i="0">
                <a:solidFill>
                  <a:srgbClr val="1B2633"/>
                </a:solidFill>
                <a:latin typeface="Calibri"/>
              </a:rPr>
              <a:t>Aufräumen → Backend → Cloud-Hosting → Umstellen → Go-Live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B4A86"/>
                </a:solidFill>
                <a:latin typeface="Calibri"/>
              </a:rPr>
              <a:t>Betriebskosten moderat:  </a:t>
            </a:r>
            <a:r>
              <a:rPr sz="1250" b="0" i="0">
                <a:solidFill>
                  <a:srgbClr val="5A6473"/>
                </a:solidFill>
                <a:latin typeface="Calibri"/>
              </a:rPr>
              <a:t>ca. 30–80 €/Monat (EU-Hosting + Datenbank) · kein App-Store nötig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4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E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0B4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481328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048256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118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15184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8B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82112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6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49039" y="128016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0B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12567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 dirty="0">
                <a:solidFill>
                  <a:srgbClr val="FFFFFF"/>
                </a:solidFill>
                <a:latin typeface="Trebuchet MS"/>
              </a:rPr>
              <a:t>Eine </a:t>
            </a:r>
            <a:r>
              <a:rPr sz="4000" b="1" i="0" dirty="0" err="1">
                <a:solidFill>
                  <a:srgbClr val="FFFFFF"/>
                </a:solidFill>
                <a:latin typeface="Trebuchet MS"/>
              </a:rPr>
              <a:t>Plattform</a:t>
            </a:r>
            <a:r>
              <a:rPr sz="4000" b="1" i="0" dirty="0">
                <a:solidFill>
                  <a:srgbClr val="FFFFFF"/>
                </a:solidFill>
                <a:latin typeface="Trebuchet MS"/>
              </a:rPr>
              <a:t>. Alle </a:t>
            </a:r>
            <a:r>
              <a:rPr sz="4000" b="1" i="0" dirty="0" err="1">
                <a:solidFill>
                  <a:srgbClr val="FFFFFF"/>
                </a:solidFill>
                <a:latin typeface="Trebuchet MS"/>
              </a:rPr>
              <a:t>Prozesse</a:t>
            </a:r>
            <a:r>
              <a:rPr sz="4000" b="1" i="0" dirty="0">
                <a:solidFill>
                  <a:srgbClr val="FFFFFF"/>
                </a:solidFill>
                <a:latin typeface="Trebuchet MS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de-DE" sz="4000" b="1" dirty="0">
                <a:solidFill>
                  <a:srgbClr val="3867B7"/>
                </a:solidFill>
                <a:latin typeface="Trebuchet MS"/>
              </a:rPr>
              <a:t>Für NMG-</a:t>
            </a:r>
            <a:r>
              <a:rPr lang="de-DE" sz="4000" b="1" dirty="0" err="1">
                <a:solidFill>
                  <a:srgbClr val="3867B7"/>
                </a:solidFill>
                <a:latin typeface="Trebuchet MS"/>
              </a:rPr>
              <a:t>Pharma</a:t>
            </a:r>
            <a:r>
              <a:rPr sz="4000" b="1" i="0" dirty="0">
                <a:solidFill>
                  <a:srgbClr val="3867B7"/>
                </a:solidFill>
                <a:latin typeface="Trebuchet MS"/>
              </a:rPr>
              <a:t> </a:t>
            </a:r>
            <a:r>
              <a:rPr sz="4000" b="1" i="0" dirty="0" err="1">
                <a:solidFill>
                  <a:srgbClr val="3867B7"/>
                </a:solidFill>
                <a:latin typeface="Trebuchet MS"/>
              </a:rPr>
              <a:t>gebaut</a:t>
            </a:r>
            <a:r>
              <a:rPr sz="4000" b="1" i="0" dirty="0">
                <a:solidFill>
                  <a:srgbClr val="3867B7"/>
                </a:solidFill>
                <a:latin typeface="Trebuchet M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8F1FB"/>
                </a:solidFill>
                <a:latin typeface="Calibri"/>
              </a:rPr>
              <a:t>NMGone fasst Marktanalyse, Rabatte, Kunden und Verkauf zusammen – nachvollziehbar, kostenneutral und exakt auf unsere Apotheken-Prozesse zugeschnitten.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77840"/>
            <a:ext cx="2743200" cy="41148"/>
          </a:xfrm>
          <a:prstGeom prst="rect">
            <a:avLst/>
          </a:prstGeom>
          <a:solidFill>
            <a:srgbClr val="386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8064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9CDE8"/>
                </a:solidFill>
                <a:latin typeface="Calibri"/>
              </a:rPr>
              <a:t>Vielen Dank – gerne beantworte ich Ihre Fragen.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5715000"/>
            <a:ext cx="22402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B26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nm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5879853"/>
            <a:ext cx="1874519" cy="4018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846</Words>
  <Application>Microsoft Office PowerPoint</Application>
  <PresentationFormat>Breitbild</PresentationFormat>
  <Paragraphs>185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Tino Lambrecht</cp:lastModifiedBy>
  <cp:revision>2</cp:revision>
  <dcterms:created xsi:type="dcterms:W3CDTF">2013-01-27T09:14:16Z</dcterms:created>
  <dcterms:modified xsi:type="dcterms:W3CDTF">2026-06-22T14:05:42Z</dcterms:modified>
  <cp:category/>
</cp:coreProperties>
</file>